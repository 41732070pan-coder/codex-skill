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BF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rice_paper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4160520" cy="6858000"/>
          </a:xfrm>
          <a:prstGeom prst="rect">
            <a:avLst/>
          </a:prstGeom>
          <a:solidFill>
            <a:srgbClr val="0652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l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457200"/>
            <a:ext cx="4023360" cy="118160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160520" y="0"/>
            <a:ext cx="54864" cy="6858000"/>
          </a:xfrm>
          <a:prstGeom prst="rect">
            <a:avLst/>
          </a:prstGeom>
          <a:solidFill>
            <a:srgbClr val="EACD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960120"/>
            <a:ext cx="292608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5400" b="1" i="0">
                <a:solidFill>
                  <a:srgbClr val="FFFBF0"/>
                </a:solidFill>
                <a:latin typeface="宋体"/>
                <a:ea typeface="宋体"/>
              </a:rPr>
              <a:t>设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5400" b="1" i="0">
                <a:solidFill>
                  <a:srgbClr val="FFFBF0"/>
                </a:solidFill>
                <a:latin typeface="宋体"/>
                <a:ea typeface="宋体"/>
              </a:rPr>
              <a:t>计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5400" b="1" i="0">
                <a:solidFill>
                  <a:srgbClr val="FFFBF0"/>
                </a:solidFill>
                <a:latin typeface="宋体"/>
                <a:ea typeface="宋体"/>
              </a:rPr>
              <a:t>初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5400" b="1" i="0">
                <a:solidFill>
                  <a:srgbClr val="FFFBF0"/>
                </a:solidFill>
                <a:latin typeface="宋体"/>
                <a:ea typeface="宋体"/>
              </a:rPr>
              <a:t>稿</a:t>
            </a:r>
          </a:p>
        </p:txBody>
      </p:sp>
      <p:sp>
        <p:nvSpPr>
          <p:cNvPr id="7" name="Oval 6"/>
          <p:cNvSpPr/>
          <p:nvPr/>
        </p:nvSpPr>
        <p:spPr>
          <a:xfrm>
            <a:off x="713232" y="5440680"/>
            <a:ext cx="457200" cy="457200"/>
          </a:xfrm>
          <a:prstGeom prst="ellipse">
            <a:avLst/>
          </a:prstGeom>
          <a:solidFill>
            <a:srgbClr val="9D2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550468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FFFBF0"/>
                </a:solidFill>
                <a:latin typeface="楷体"/>
                <a:ea typeface="楷体"/>
              </a:rPr>
              <a:t>匠</a:t>
            </a:r>
          </a:p>
        </p:txBody>
      </p:sp>
      <p:pic>
        <p:nvPicPr>
          <p:cNvPr id="9" name="Picture 8" descr="coi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7080" y="566928"/>
            <a:ext cx="841248" cy="84124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800600" y="1554480"/>
            <a:ext cx="67665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300" b="1" i="0">
                <a:solidFill>
                  <a:srgbClr val="065279"/>
                </a:solidFill>
                <a:latin typeface="微软雅黑"/>
                <a:ea typeface="微软雅黑"/>
              </a:rPr>
              <a:t>AI Agent + Skill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 i="0">
                <a:solidFill>
                  <a:srgbClr val="161823"/>
                </a:solidFill>
                <a:latin typeface="宋体"/>
                <a:ea typeface="宋体"/>
              </a:rPr>
              <a:t>设计工作流指南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864608" y="3611880"/>
            <a:ext cx="3840480" cy="0"/>
          </a:xfrm>
          <a:prstGeom prst="bentConnector3">
            <a:avLst/>
          </a:prstGeom>
          <a:ln w="25400">
            <a:solidFill>
              <a:srgbClr val="EACD7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846320" y="3794760"/>
            <a:ext cx="658368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0" i="0">
                <a:solidFill>
                  <a:srgbClr val="50616D"/>
                </a:solidFill>
                <a:latin typeface="微软雅黑"/>
                <a:ea typeface="微软雅黑"/>
              </a:rPr>
              <a:t>用 大模型 + 技能 + 工具 生成「可用且美观」的设计与科研初稿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50616D"/>
                </a:solidFill>
                <a:latin typeface="微软雅黑"/>
                <a:ea typeface="微软雅黑"/>
              </a:rPr>
              <a:t>PPT · 科研绘图 · SVG · 海报 — 以 my-design-style 中国传统色风格演示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5943600"/>
            <a:ext cx="6675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177CB0"/>
                </a:solidFill>
                <a:latin typeface="微软雅黑"/>
                <a:ea typeface="微软雅黑"/>
              </a:rPr>
              <a:t>chinese_traditional_color_style  ·  靛青学者 × 墨纸  ·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BF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rice_paper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652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66928" y="603504"/>
            <a:ext cx="365760" cy="365760"/>
          </a:xfrm>
          <a:prstGeom prst="ellipse">
            <a:avLst/>
          </a:prstGeom>
          <a:solidFill>
            <a:srgbClr val="9D2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03504"/>
            <a:ext cx="548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BF0"/>
                </a:solidFill>
                <a:latin typeface="宋体"/>
                <a:ea typeface="宋体"/>
              </a:rPr>
              <a:t>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457200"/>
            <a:ext cx="8686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 i="0">
                <a:solidFill>
                  <a:srgbClr val="161823"/>
                </a:solidFill>
                <a:latin typeface="宋体"/>
                <a:ea typeface="宋体"/>
              </a:rPr>
              <a:t>选用色卡 · 靛青学者 + 墨纸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1078992"/>
            <a:ext cx="8686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177CB0"/>
                </a:solidFill>
                <a:latin typeface="微软雅黑"/>
                <a:ea typeface="微软雅黑"/>
              </a:rPr>
              <a:t>COLOR LEGEND — Indigo Scholarly × Ink Paper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161288" y="1481328"/>
            <a:ext cx="9875520" cy="0"/>
          </a:xfrm>
          <a:prstGeom prst="bentConnector3">
            <a:avLst/>
          </a:prstGeom>
          <a:ln w="12700">
            <a:solidFill>
              <a:srgbClr val="BACAC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161288" y="1627632"/>
            <a:ext cx="9966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50616D"/>
                </a:solidFill>
                <a:latin typeface="微软雅黑"/>
                <a:ea typeface="微软雅黑"/>
              </a:rPr>
              <a:t>全部取自《中国传统色》命名色，主色一张色卡贯穿全篇，墨纸作底，金色仅作点睛。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61288" y="2423160"/>
            <a:ext cx="1627632" cy="1783080"/>
          </a:xfrm>
          <a:prstGeom prst="rect">
            <a:avLst/>
          </a:prstGeom>
          <a:solidFill>
            <a:srgbClr val="177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71016" y="3364991"/>
            <a:ext cx="1444752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宋体"/>
                <a:ea typeface="宋体"/>
              </a:rPr>
              <a:t>靛青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FFFFFF"/>
                </a:solidFill>
                <a:latin typeface="微软雅黑"/>
                <a:ea typeface="微软雅黑"/>
              </a:rPr>
              <a:t>#177CB0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34640" y="2423160"/>
            <a:ext cx="1627632" cy="1783080"/>
          </a:xfrm>
          <a:prstGeom prst="rect">
            <a:avLst/>
          </a:prstGeom>
          <a:solidFill>
            <a:srgbClr val="0652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44368" y="3364991"/>
            <a:ext cx="1444752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宋体"/>
                <a:ea typeface="宋体"/>
              </a:rPr>
              <a:t>靛蓝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FFFFFF"/>
                </a:solidFill>
                <a:latin typeface="微软雅黑"/>
                <a:ea typeface="微软雅黑"/>
              </a:rPr>
              <a:t>#065279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07992" y="2423160"/>
            <a:ext cx="1627632" cy="1783080"/>
          </a:xfrm>
          <a:prstGeom prst="rect">
            <a:avLst/>
          </a:prstGeom>
          <a:solidFill>
            <a:srgbClr val="44CE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17720" y="3364991"/>
            <a:ext cx="1444752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161823"/>
                </a:solidFill>
                <a:latin typeface="宋体"/>
                <a:ea typeface="宋体"/>
              </a:rPr>
              <a:t>蓝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161823"/>
                </a:solidFill>
                <a:latin typeface="微软雅黑"/>
                <a:ea typeface="微软雅黑"/>
              </a:rPr>
              <a:t>#44CEF6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81344" y="2423160"/>
            <a:ext cx="1627632" cy="1783080"/>
          </a:xfrm>
          <a:prstGeom prst="rect">
            <a:avLst/>
          </a:prstGeom>
          <a:solidFill>
            <a:srgbClr val="4B5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91072" y="3364991"/>
            <a:ext cx="1444752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宋体"/>
                <a:ea typeface="宋体"/>
              </a:rPr>
              <a:t>宝蓝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FFFFFF"/>
                </a:solidFill>
                <a:latin typeface="微软雅黑"/>
                <a:ea typeface="微软雅黑"/>
              </a:rPr>
              <a:t>#4B5CC4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854696" y="2423160"/>
            <a:ext cx="1627632" cy="1783080"/>
          </a:xfrm>
          <a:prstGeom prst="rect">
            <a:avLst/>
          </a:prstGeom>
          <a:solidFill>
            <a:srgbClr val="A1A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64423" y="3364991"/>
            <a:ext cx="1444752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161823"/>
                </a:solidFill>
                <a:latin typeface="宋体"/>
                <a:ea typeface="宋体"/>
              </a:rPr>
              <a:t>蓝灰色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161823"/>
                </a:solidFill>
                <a:latin typeface="微软雅黑"/>
                <a:ea typeface="微软雅黑"/>
              </a:rPr>
              <a:t>#A1AFC9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528048" y="2423160"/>
            <a:ext cx="1627632" cy="1783080"/>
          </a:xfrm>
          <a:prstGeom prst="rect">
            <a:avLst/>
          </a:prstGeom>
          <a:solidFill>
            <a:srgbClr val="D6E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37776" y="3364991"/>
            <a:ext cx="1444752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161823"/>
                </a:solidFill>
                <a:latin typeface="宋体"/>
                <a:ea typeface="宋体"/>
              </a:rPr>
              <a:t>月白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161823"/>
                </a:solidFill>
                <a:latin typeface="微软雅黑"/>
                <a:ea typeface="微软雅黑"/>
              </a:rPr>
              <a:t>#D6ECF0</a:t>
            </a:r>
          </a:p>
        </p:txBody>
      </p:sp>
      <p:sp>
        <p:nvSpPr>
          <p:cNvPr id="22" name="Oval 21"/>
          <p:cNvSpPr/>
          <p:nvPr/>
        </p:nvSpPr>
        <p:spPr>
          <a:xfrm>
            <a:off x="1161288" y="4645152"/>
            <a:ext cx="118872" cy="118872"/>
          </a:xfrm>
          <a:prstGeom prst="ellipse">
            <a:avLst/>
          </a:prstGeom>
          <a:solidFill>
            <a:srgbClr val="EACD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71600" y="4562856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065279"/>
                </a:solidFill>
                <a:latin typeface="微软雅黑"/>
                <a:ea typeface="微软雅黑"/>
              </a:rPr>
              <a:t>靛青 / 靛蓝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31920" y="4562856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50616D"/>
                </a:solidFill>
                <a:latin typeface="微软雅黑"/>
                <a:ea typeface="微软雅黑"/>
              </a:rPr>
              <a:t>标题、导航、图表主序列与强调色块</a:t>
            </a:r>
          </a:p>
        </p:txBody>
      </p:sp>
      <p:sp>
        <p:nvSpPr>
          <p:cNvPr id="25" name="Oval 24"/>
          <p:cNvSpPr/>
          <p:nvPr/>
        </p:nvSpPr>
        <p:spPr>
          <a:xfrm>
            <a:off x="1161288" y="5102352"/>
            <a:ext cx="118872" cy="118872"/>
          </a:xfrm>
          <a:prstGeom prst="ellipse">
            <a:avLst/>
          </a:prstGeom>
          <a:solidFill>
            <a:srgbClr val="EACD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71600" y="5020056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065279"/>
                </a:solidFill>
                <a:latin typeface="微软雅黑"/>
                <a:ea typeface="微软雅黑"/>
              </a:rPr>
              <a:t>蓝 / 宝蓝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31920" y="5020056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50616D"/>
                </a:solidFill>
                <a:latin typeface="微软雅黑"/>
                <a:ea typeface="微软雅黑"/>
              </a:rPr>
              <a:t>次级强调、链接、数据辅助系列</a:t>
            </a:r>
          </a:p>
        </p:txBody>
      </p:sp>
      <p:sp>
        <p:nvSpPr>
          <p:cNvPr id="28" name="Oval 27"/>
          <p:cNvSpPr/>
          <p:nvPr/>
        </p:nvSpPr>
        <p:spPr>
          <a:xfrm>
            <a:off x="1161288" y="5559552"/>
            <a:ext cx="118872" cy="118872"/>
          </a:xfrm>
          <a:prstGeom prst="ellipse">
            <a:avLst/>
          </a:prstGeom>
          <a:solidFill>
            <a:srgbClr val="EACD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71600" y="5477256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065279"/>
                </a:solidFill>
                <a:latin typeface="微软雅黑"/>
                <a:ea typeface="微软雅黑"/>
              </a:rPr>
              <a:t>月白 / 蓝灰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931920" y="5477256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50616D"/>
                </a:solidFill>
                <a:latin typeface="微软雅黑"/>
                <a:ea typeface="微软雅黑"/>
              </a:rPr>
              <a:t>大面积浅底、留白过渡、安静面板</a:t>
            </a:r>
          </a:p>
        </p:txBody>
      </p:sp>
      <p:sp>
        <p:nvSpPr>
          <p:cNvPr id="31" name="Oval 30"/>
          <p:cNvSpPr/>
          <p:nvPr/>
        </p:nvSpPr>
        <p:spPr>
          <a:xfrm>
            <a:off x="1161288" y="6016752"/>
            <a:ext cx="118872" cy="118872"/>
          </a:xfrm>
          <a:prstGeom prst="ellipse">
            <a:avLst/>
          </a:prstGeom>
          <a:solidFill>
            <a:srgbClr val="EACD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371600" y="5934456"/>
            <a:ext cx="2743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065279"/>
                </a:solidFill>
                <a:latin typeface="微软雅黑"/>
                <a:ea typeface="微软雅黑"/>
              </a:rPr>
              <a:t>金色 · 胭脂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931920" y="5934456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50616D"/>
                </a:solidFill>
                <a:latin typeface="微软雅黑"/>
                <a:ea typeface="微软雅黑"/>
              </a:rPr>
              <a:t>细分割线点睛、印章红仅作节奏锚点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BF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rice_paper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652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66928" y="603504"/>
            <a:ext cx="365760" cy="365760"/>
          </a:xfrm>
          <a:prstGeom prst="ellipse">
            <a:avLst/>
          </a:prstGeom>
          <a:solidFill>
            <a:srgbClr val="9D2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03504"/>
            <a:ext cx="548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BF0"/>
                </a:solidFill>
                <a:latin typeface="宋体"/>
                <a:ea typeface="宋体"/>
              </a:rPr>
              <a:t>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457200"/>
            <a:ext cx="8686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 i="0">
                <a:solidFill>
                  <a:srgbClr val="161823"/>
                </a:solidFill>
                <a:latin typeface="宋体"/>
                <a:ea typeface="宋体"/>
              </a:rPr>
              <a:t>目录 · 五个章节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1078992"/>
            <a:ext cx="8686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177CB0"/>
                </a:solidFill>
                <a:latin typeface="微软雅黑"/>
                <a:ea typeface="微软雅黑"/>
              </a:rPr>
              <a:t>AGENDA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161288" y="1481328"/>
            <a:ext cx="9875520" cy="0"/>
          </a:xfrm>
          <a:prstGeom prst="bentConnector3">
            <a:avLst/>
          </a:prstGeom>
          <a:ln w="12700">
            <a:solidFill>
              <a:srgbClr val="BACAC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1161288" y="1920240"/>
            <a:ext cx="507492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BACA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61288" y="1920240"/>
            <a:ext cx="109728" cy="1143000"/>
          </a:xfrm>
          <a:prstGeom prst="rect">
            <a:avLst/>
          </a:prstGeom>
          <a:solidFill>
            <a:srgbClr val="177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53896" y="2066544"/>
            <a:ext cx="10972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77CB0"/>
                </a:solidFill>
                <a:latin typeface="宋体"/>
                <a:ea typeface="宋体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32888" y="2103120"/>
            <a:ext cx="3520439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161823"/>
                </a:solidFill>
                <a:latin typeface="微软雅黑"/>
                <a:ea typeface="微软雅黑"/>
              </a:rPr>
              <a:t>工作流总览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0616D"/>
                </a:solidFill>
                <a:latin typeface="微软雅黑"/>
                <a:ea typeface="微软雅黑"/>
              </a:rPr>
              <a:t>Agent + Skill + MCP 三件套如何协作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693408" y="1920240"/>
            <a:ext cx="507492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BACA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693408" y="1920240"/>
            <a:ext cx="109728" cy="1143000"/>
          </a:xfrm>
          <a:prstGeom prst="rect">
            <a:avLst/>
          </a:prstGeom>
          <a:solidFill>
            <a:srgbClr val="177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86016" y="2066544"/>
            <a:ext cx="10972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77CB0"/>
                </a:solidFill>
                <a:latin typeface="宋体"/>
                <a:ea typeface="宋体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65008" y="2103120"/>
            <a:ext cx="3520439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161823"/>
                </a:solidFill>
                <a:latin typeface="微软雅黑"/>
                <a:ea typeface="微软雅黑"/>
              </a:rPr>
              <a:t>选型建议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0616D"/>
                </a:solidFill>
                <a:latin typeface="微软雅黑"/>
                <a:ea typeface="微软雅黑"/>
              </a:rPr>
              <a:t>Agent 与大模型，2026 年的推荐组合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161288" y="3291840"/>
            <a:ext cx="507492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BACA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161288" y="3291840"/>
            <a:ext cx="109728" cy="1143000"/>
          </a:xfrm>
          <a:prstGeom prst="rect">
            <a:avLst/>
          </a:prstGeom>
          <a:solidFill>
            <a:srgbClr val="177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53896" y="3438144"/>
            <a:ext cx="10972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77CB0"/>
                </a:solidFill>
                <a:latin typeface="宋体"/>
                <a:ea typeface="宋体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32888" y="3474720"/>
            <a:ext cx="3520439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161823"/>
                </a:solidFill>
                <a:latin typeface="微软雅黑"/>
                <a:ea typeface="微软雅黑"/>
              </a:rPr>
              <a:t>安装与调用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0616D"/>
                </a:solidFill>
                <a:latin typeface="微软雅黑"/>
                <a:ea typeface="微软雅黑"/>
              </a:rPr>
              <a:t>如何为环境装上 skill 并精确触发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93408" y="3291840"/>
            <a:ext cx="507492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BACA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693408" y="3291840"/>
            <a:ext cx="109728" cy="1143000"/>
          </a:xfrm>
          <a:prstGeom prst="rect">
            <a:avLst/>
          </a:prstGeom>
          <a:solidFill>
            <a:srgbClr val="177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86016" y="3438144"/>
            <a:ext cx="10972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77CB0"/>
                </a:solidFill>
                <a:latin typeface="宋体"/>
                <a:ea typeface="宋体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65008" y="3474720"/>
            <a:ext cx="3520439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161823"/>
                </a:solidFill>
                <a:latin typeface="微软雅黑"/>
                <a:ea typeface="微软雅黑"/>
              </a:rPr>
              <a:t>产物与格式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0616D"/>
                </a:solidFill>
                <a:latin typeface="微软雅黑"/>
                <a:ea typeface="微软雅黑"/>
              </a:rPr>
              <a:t>为什么要可编辑的 SVG / PPT / PDF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927348" y="4663440"/>
            <a:ext cx="507492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BACA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927348" y="4663440"/>
            <a:ext cx="109728" cy="1143000"/>
          </a:xfrm>
          <a:prstGeom prst="rect">
            <a:avLst/>
          </a:prstGeom>
          <a:solidFill>
            <a:srgbClr val="177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19956" y="4809744"/>
            <a:ext cx="10972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77CB0"/>
                </a:solidFill>
                <a:latin typeface="宋体"/>
                <a:ea typeface="宋体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98948" y="4846320"/>
            <a:ext cx="3520439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161823"/>
                </a:solidFill>
                <a:latin typeface="微软雅黑"/>
                <a:ea typeface="微软雅黑"/>
              </a:rPr>
              <a:t>微调的边界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0616D"/>
                </a:solidFill>
                <a:latin typeface="微软雅黑"/>
                <a:ea typeface="微软雅黑"/>
              </a:rPr>
              <a:t>哪些该交给 AI，哪些该自己动手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BF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rice_paper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652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66928" y="603504"/>
            <a:ext cx="365760" cy="365760"/>
          </a:xfrm>
          <a:prstGeom prst="ellipse">
            <a:avLst/>
          </a:prstGeom>
          <a:solidFill>
            <a:srgbClr val="9D2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03504"/>
            <a:ext cx="548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BF0"/>
                </a:solidFill>
                <a:latin typeface="宋体"/>
                <a:ea typeface="宋体"/>
              </a:rPr>
              <a:t>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457200"/>
            <a:ext cx="8686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 i="0">
                <a:solidFill>
                  <a:srgbClr val="161823"/>
                </a:solidFill>
                <a:latin typeface="宋体"/>
                <a:ea typeface="宋体"/>
              </a:rPr>
              <a:t>工作流总览 · Agent + Skill + MCP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1078992"/>
            <a:ext cx="8686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177CB0"/>
                </a:solidFill>
                <a:latin typeface="微软雅黑"/>
                <a:ea typeface="微软雅黑"/>
              </a:rPr>
              <a:t>HOW THE PIECES FIT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161288" y="1481328"/>
            <a:ext cx="9875520" cy="0"/>
          </a:xfrm>
          <a:prstGeom prst="bentConnector3">
            <a:avLst/>
          </a:prstGeom>
          <a:ln w="12700">
            <a:solidFill>
              <a:srgbClr val="BACAC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161288" y="1627632"/>
            <a:ext cx="99669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50616D"/>
                </a:solidFill>
                <a:latin typeface="微软雅黑"/>
                <a:ea typeface="微软雅黑"/>
              </a:rPr>
              <a:t>当前主流程是「智能体 + 技能 + 工具」三件套协作。以做一张科研流程图为例：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61288" y="2377440"/>
            <a:ext cx="3310128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BACA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61288" y="2377440"/>
            <a:ext cx="3310128" cy="822960"/>
          </a:xfrm>
          <a:prstGeom prst="rect">
            <a:avLst/>
          </a:prstGeom>
          <a:solidFill>
            <a:srgbClr val="0652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35608" y="2505456"/>
            <a:ext cx="2852928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  <a:latin typeface="微软雅黑"/>
                <a:ea typeface="微软雅黑"/>
              </a:rPr>
              <a:t>Agent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D6ECF0"/>
                </a:solidFill>
                <a:latin typeface="微软雅黑"/>
                <a:ea typeface="微软雅黑"/>
              </a:rPr>
              <a:t>智能体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35608" y="3401568"/>
            <a:ext cx="2807208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50616D"/>
                </a:solidFill>
                <a:latin typeface="微软雅黑"/>
                <a:ea typeface="微软雅黑"/>
              </a:rPr>
              <a:t>Codex / Claude Code / Cursor —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50616D"/>
                </a:solidFill>
                <a:latin typeface="微软雅黑"/>
                <a:ea typeface="微软雅黑"/>
              </a:rPr>
              <a:t>读懂意图、调度技能与工具、产出文件。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53128" y="3291840"/>
            <a:ext cx="365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EACD76"/>
                </a:solidFill>
                <a:latin typeface="微软雅黑"/>
                <a:ea typeface="微软雅黑"/>
              </a:rPr>
              <a:t>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82312" y="2377440"/>
            <a:ext cx="3310128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BACA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782312" y="2377440"/>
            <a:ext cx="3310128" cy="822960"/>
          </a:xfrm>
          <a:prstGeom prst="rect">
            <a:avLst/>
          </a:prstGeom>
          <a:solidFill>
            <a:srgbClr val="177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56632" y="2505456"/>
            <a:ext cx="2852928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  <a:latin typeface="微软雅黑"/>
                <a:ea typeface="微软雅黑"/>
              </a:rPr>
              <a:t>Skill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D6ECF0"/>
                </a:solidFill>
                <a:latin typeface="微软雅黑"/>
                <a:ea typeface="微软雅黑"/>
              </a:rPr>
              <a:t>技能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56632" y="3401568"/>
            <a:ext cx="2807208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50616D"/>
                </a:solidFill>
                <a:latin typeface="微软雅黑"/>
                <a:ea typeface="微软雅黑"/>
              </a:rPr>
              <a:t>my-design-style 这类设计技能 —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50616D"/>
                </a:solidFill>
                <a:latin typeface="微软雅黑"/>
                <a:ea typeface="微软雅黑"/>
              </a:rPr>
              <a:t>注入风格契约、色卡、版式与质量门。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74152" y="3291840"/>
            <a:ext cx="365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EACD76"/>
                </a:solidFill>
                <a:latin typeface="微软雅黑"/>
                <a:ea typeface="微软雅黑"/>
              </a:rPr>
              <a:t>＋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03336" y="2377440"/>
            <a:ext cx="3310128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BACA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403336" y="2377440"/>
            <a:ext cx="3310128" cy="822960"/>
          </a:xfrm>
          <a:prstGeom prst="rect">
            <a:avLst/>
          </a:prstGeom>
          <a:solidFill>
            <a:srgbClr val="4B5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77656" y="2505456"/>
            <a:ext cx="2852928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  <a:latin typeface="微软雅黑"/>
                <a:ea typeface="微软雅黑"/>
              </a:rPr>
              <a:t>MCP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D6ECF0"/>
                </a:solidFill>
                <a:latin typeface="微软雅黑"/>
                <a:ea typeface="微软雅黑"/>
              </a:rPr>
              <a:t>工具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77656" y="3401568"/>
            <a:ext cx="2807208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50616D"/>
                </a:solidFill>
                <a:latin typeface="微软雅黑"/>
                <a:ea typeface="微软雅黑"/>
              </a:rPr>
              <a:t>Figma / 浏览器 / 文件等外部能力 —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50616D"/>
                </a:solidFill>
                <a:latin typeface="微软雅黑"/>
                <a:ea typeface="微软雅黑"/>
              </a:rPr>
              <a:t>让产物落到真实可编辑的载体上。</a:t>
            </a:r>
          </a:p>
        </p:txBody>
      </p:sp>
      <p:pic>
        <p:nvPicPr>
          <p:cNvPr id="24" name="Picture 23" descr="kn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1632" y="420624"/>
            <a:ext cx="566928" cy="566928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1161288" y="5029200"/>
            <a:ext cx="9902952" cy="868680"/>
          </a:xfrm>
          <a:prstGeom prst="rect">
            <a:avLst/>
          </a:prstGeom>
          <a:solidFill>
            <a:srgbClr val="D6E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417320" y="5330952"/>
            <a:ext cx="256032" cy="256032"/>
          </a:xfrm>
          <a:prstGeom prst="ellipse">
            <a:avLst/>
          </a:prstGeom>
          <a:solidFill>
            <a:srgbClr val="9D2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828800" y="5138928"/>
            <a:ext cx="91440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161823"/>
                </a:solidFill>
                <a:latin typeface="微软雅黑"/>
                <a:ea typeface="微软雅黑"/>
              </a:rPr>
              <a:t>一句话：装好技能后，通常只需 </a:t>
            </a:r>
            <a:r>
              <a:rPr sz="1300" b="1" i="0">
                <a:solidFill>
                  <a:srgbClr val="065279"/>
                </a:solidFill>
                <a:latin typeface="楷体"/>
                <a:ea typeface="楷体"/>
              </a:rPr>
              <a:t>「$my-design-style 帮我做一份…」</a:t>
            </a:r>
            <a:r>
              <a:rPr sz="1300" b="0" i="0">
                <a:solidFill>
                  <a:srgbClr val="161823"/>
                </a:solidFill>
                <a:latin typeface="微软雅黑"/>
                <a:ea typeface="微软雅黑"/>
              </a:rPr>
              <a:t> 触发，智能体会自动调度其余环节。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BF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rice_paper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652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66928" y="603504"/>
            <a:ext cx="365760" cy="365760"/>
          </a:xfrm>
          <a:prstGeom prst="ellipse">
            <a:avLst/>
          </a:prstGeom>
          <a:solidFill>
            <a:srgbClr val="9D2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03504"/>
            <a:ext cx="548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BF0"/>
                </a:solidFill>
                <a:latin typeface="宋体"/>
                <a:ea typeface="宋体"/>
              </a:rPr>
              <a:t>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457200"/>
            <a:ext cx="8686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 i="0">
                <a:solidFill>
                  <a:srgbClr val="161823"/>
                </a:solidFill>
                <a:latin typeface="宋体"/>
                <a:ea typeface="宋体"/>
              </a:rPr>
              <a:t>选型建议 · 智能体与大模型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1078992"/>
            <a:ext cx="8686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177CB0"/>
                </a:solidFill>
                <a:latin typeface="微软雅黑"/>
                <a:ea typeface="微软雅黑"/>
              </a:rPr>
              <a:t>WHAT TO RUN — AS OF 2026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161288" y="1481328"/>
            <a:ext cx="9875520" cy="0"/>
          </a:xfrm>
          <a:prstGeom prst="bentConnector3">
            <a:avLst/>
          </a:prstGeom>
          <a:ln w="12700">
            <a:solidFill>
              <a:srgbClr val="BACAC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1161288" y="1783080"/>
            <a:ext cx="4846320" cy="4160520"/>
          </a:xfrm>
          <a:prstGeom prst="rect">
            <a:avLst/>
          </a:prstGeom>
          <a:solidFill>
            <a:srgbClr val="FFFFFF"/>
          </a:solidFill>
          <a:ln w="9525">
            <a:solidFill>
              <a:srgbClr val="BACA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61288" y="1783080"/>
            <a:ext cx="4846320" cy="713232"/>
          </a:xfrm>
          <a:prstGeom prst="rect">
            <a:avLst/>
          </a:prstGeom>
          <a:solidFill>
            <a:srgbClr val="0652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17320" y="1883664"/>
            <a:ext cx="4389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FFFFFF"/>
                </a:solidFill>
                <a:latin typeface="微软雅黑"/>
                <a:ea typeface="微软雅黑"/>
              </a:rPr>
              <a:t>智能体 Agent</a:t>
            </a:r>
          </a:p>
        </p:txBody>
      </p:sp>
      <p:sp>
        <p:nvSpPr>
          <p:cNvPr id="12" name="Oval 11"/>
          <p:cNvSpPr/>
          <p:nvPr/>
        </p:nvSpPr>
        <p:spPr>
          <a:xfrm>
            <a:off x="1417320" y="2743200"/>
            <a:ext cx="137160" cy="137160"/>
          </a:xfrm>
          <a:prstGeom prst="ellipse">
            <a:avLst/>
          </a:prstGeom>
          <a:solidFill>
            <a:srgbClr val="177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45920" y="2651760"/>
            <a:ext cx="4206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161823"/>
                </a:solidFill>
                <a:latin typeface="微软雅黑"/>
                <a:ea typeface="微软雅黑"/>
              </a:rPr>
              <a:t>Claude Code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2971800"/>
            <a:ext cx="4206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50616D"/>
                </a:solidFill>
                <a:latin typeface="微软雅黑"/>
                <a:ea typeface="微软雅黑"/>
              </a:rPr>
              <a:t>终端原生、技能与 MCP 生态成熟</a:t>
            </a:r>
          </a:p>
        </p:txBody>
      </p:sp>
      <p:sp>
        <p:nvSpPr>
          <p:cNvPr id="15" name="Oval 14"/>
          <p:cNvSpPr/>
          <p:nvPr/>
        </p:nvSpPr>
        <p:spPr>
          <a:xfrm>
            <a:off x="1417320" y="3703320"/>
            <a:ext cx="137160" cy="137160"/>
          </a:xfrm>
          <a:prstGeom prst="ellipse">
            <a:avLst/>
          </a:prstGeom>
          <a:solidFill>
            <a:srgbClr val="177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45920" y="3611880"/>
            <a:ext cx="4206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161823"/>
                </a:solidFill>
                <a:latin typeface="微软雅黑"/>
                <a:ea typeface="微软雅黑"/>
              </a:rPr>
              <a:t>Codex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3931920"/>
            <a:ext cx="4206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50616D"/>
                </a:solidFill>
                <a:latin typeface="微软雅黑"/>
                <a:ea typeface="微软雅黑"/>
              </a:rPr>
              <a:t>本仓库演示资源的产出工具</a:t>
            </a:r>
          </a:p>
        </p:txBody>
      </p:sp>
      <p:sp>
        <p:nvSpPr>
          <p:cNvPr id="18" name="Oval 17"/>
          <p:cNvSpPr/>
          <p:nvPr/>
        </p:nvSpPr>
        <p:spPr>
          <a:xfrm>
            <a:off x="1417320" y="4663440"/>
            <a:ext cx="137160" cy="137160"/>
          </a:xfrm>
          <a:prstGeom prst="ellipse">
            <a:avLst/>
          </a:prstGeom>
          <a:solidFill>
            <a:srgbClr val="177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45920" y="4572000"/>
            <a:ext cx="4206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161823"/>
                </a:solidFill>
                <a:latin typeface="微软雅黑"/>
                <a:ea typeface="微软雅黑"/>
              </a:rPr>
              <a:t>Cursor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892040"/>
            <a:ext cx="4206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50616D"/>
                </a:solidFill>
                <a:latin typeface="微软雅黑"/>
                <a:ea typeface="微软雅黑"/>
              </a:rPr>
              <a:t>编辑器内交互，适合边写边看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36208" y="1783080"/>
            <a:ext cx="4846320" cy="4160520"/>
          </a:xfrm>
          <a:prstGeom prst="rect">
            <a:avLst/>
          </a:prstGeom>
          <a:solidFill>
            <a:srgbClr val="FFFFFF"/>
          </a:solidFill>
          <a:ln w="9525">
            <a:solidFill>
              <a:srgbClr val="BACA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36208" y="1783080"/>
            <a:ext cx="4846320" cy="713232"/>
          </a:xfrm>
          <a:prstGeom prst="rect">
            <a:avLst/>
          </a:prstGeom>
          <a:solidFill>
            <a:srgbClr val="177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1883664"/>
            <a:ext cx="4389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FFFFFF"/>
                </a:solidFill>
                <a:latin typeface="微软雅黑"/>
                <a:ea typeface="微软雅黑"/>
              </a:rPr>
              <a:t>大模型 LLM · 推荐档位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92240" y="2743200"/>
            <a:ext cx="2103120" cy="658368"/>
          </a:xfrm>
          <a:prstGeom prst="rect">
            <a:avLst/>
          </a:prstGeom>
          <a:solidFill>
            <a:srgbClr val="D6E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92240" y="2743200"/>
            <a:ext cx="210312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065279"/>
                </a:solidFill>
                <a:latin typeface="微软雅黑"/>
                <a:ea typeface="微软雅黑"/>
              </a:rPr>
              <a:t>GPT-5.5+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823959" y="2743200"/>
            <a:ext cx="2103120" cy="658368"/>
          </a:xfrm>
          <a:prstGeom prst="rect">
            <a:avLst/>
          </a:prstGeom>
          <a:solidFill>
            <a:srgbClr val="D6E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823959" y="2743200"/>
            <a:ext cx="210312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065279"/>
                </a:solidFill>
                <a:latin typeface="微软雅黑"/>
                <a:ea typeface="微软雅黑"/>
              </a:rPr>
              <a:t>Claude 4.6+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92240" y="3611880"/>
            <a:ext cx="2103120" cy="658368"/>
          </a:xfrm>
          <a:prstGeom prst="rect">
            <a:avLst/>
          </a:prstGeom>
          <a:solidFill>
            <a:srgbClr val="D6E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92240" y="3611880"/>
            <a:ext cx="210312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065279"/>
                </a:solidFill>
                <a:latin typeface="微软雅黑"/>
                <a:ea typeface="微软雅黑"/>
              </a:rPr>
              <a:t>Gemini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823959" y="3611880"/>
            <a:ext cx="2103120" cy="658368"/>
          </a:xfrm>
          <a:prstGeom prst="rect">
            <a:avLst/>
          </a:prstGeom>
          <a:solidFill>
            <a:srgbClr val="D6E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823959" y="3611880"/>
            <a:ext cx="210312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065279"/>
                </a:solidFill>
                <a:latin typeface="微软雅黑"/>
                <a:ea typeface="微软雅黑"/>
              </a:rPr>
              <a:t>Qwen Max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5120640"/>
            <a:ext cx="43434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50616D"/>
                </a:solidFill>
                <a:latin typeface="微软雅黑"/>
                <a:ea typeface="微软雅黑"/>
              </a:rPr>
              <a:t>产物审美高度依赖模型档位；低于此档位，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50616D"/>
                </a:solidFill>
                <a:latin typeface="微软雅黑"/>
                <a:ea typeface="微软雅黑"/>
              </a:rPr>
              <a:t>成稿质量会明显下滑。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BF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rice_paper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652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66928" y="603504"/>
            <a:ext cx="365760" cy="365760"/>
          </a:xfrm>
          <a:prstGeom prst="ellipse">
            <a:avLst/>
          </a:prstGeom>
          <a:solidFill>
            <a:srgbClr val="9D2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03504"/>
            <a:ext cx="548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BF0"/>
                </a:solidFill>
                <a:latin typeface="宋体"/>
                <a:ea typeface="宋体"/>
              </a:rPr>
              <a:t>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457200"/>
            <a:ext cx="8686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 i="0">
                <a:solidFill>
                  <a:srgbClr val="161823"/>
                </a:solidFill>
                <a:latin typeface="宋体"/>
                <a:ea typeface="宋体"/>
              </a:rPr>
              <a:t>安装与调用 · 三步上手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1078992"/>
            <a:ext cx="8686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177CB0"/>
                </a:solidFill>
                <a:latin typeface="微软雅黑"/>
                <a:ea typeface="微软雅黑"/>
              </a:rPr>
              <a:t>INSTALL &amp; INVOKE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161288" y="1481328"/>
            <a:ext cx="9875520" cy="0"/>
          </a:xfrm>
          <a:prstGeom prst="bentConnector3">
            <a:avLst/>
          </a:prstGeom>
          <a:ln w="12700">
            <a:solidFill>
              <a:srgbClr val="BACAC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1161288" y="1874519"/>
            <a:ext cx="9902952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BACA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61288" y="1874519"/>
            <a:ext cx="868680" cy="1188720"/>
          </a:xfrm>
          <a:prstGeom prst="rect">
            <a:avLst/>
          </a:prstGeom>
          <a:solidFill>
            <a:srgbClr val="0652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61288" y="1874519"/>
            <a:ext cx="86868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宋体"/>
                <a:ea typeface="宋体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039112"/>
            <a:ext cx="85953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650" b="1" i="0">
                <a:solidFill>
                  <a:srgbClr val="161823"/>
                </a:solidFill>
                <a:latin typeface="微软雅黑"/>
                <a:ea typeface="微软雅黑"/>
              </a:rPr>
              <a:t>拿到技能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50616D"/>
                </a:solidFill>
                <a:latin typeface="微软雅黑"/>
                <a:ea typeface="微软雅黑"/>
              </a:rPr>
              <a:t>把 skill 文件夹放到本地，或给智能体一个可下载链接，让它替你安装到环境的 skills 目录。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61288" y="3200400"/>
            <a:ext cx="9902952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BACA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61288" y="3200400"/>
            <a:ext cx="868680" cy="1188720"/>
          </a:xfrm>
          <a:prstGeom prst="rect">
            <a:avLst/>
          </a:prstGeom>
          <a:solidFill>
            <a:srgbClr val="0652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61288" y="3200400"/>
            <a:ext cx="86868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宋体"/>
                <a:ea typeface="宋体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3364992"/>
            <a:ext cx="85953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650" b="1" i="0">
                <a:solidFill>
                  <a:srgbClr val="161823"/>
                </a:solidFill>
                <a:latin typeface="微软雅黑"/>
                <a:ea typeface="微软雅黑"/>
              </a:rPr>
              <a:t>确认就位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50616D"/>
                </a:solidFill>
                <a:latin typeface="微软雅黑"/>
                <a:ea typeface="微软雅黑"/>
              </a:rPr>
              <a:t>智能体读取 SKILL.md 与 references，识别可用风格；本篇即用 chinese_traditional_color_style。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161288" y="4526280"/>
            <a:ext cx="9902952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BACA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161288" y="4526280"/>
            <a:ext cx="868680" cy="1188720"/>
          </a:xfrm>
          <a:prstGeom prst="rect">
            <a:avLst/>
          </a:prstGeom>
          <a:solidFill>
            <a:srgbClr val="0652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61288" y="4526280"/>
            <a:ext cx="86868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宋体"/>
                <a:ea typeface="宋体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4690872"/>
            <a:ext cx="85953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650" b="1" i="0">
                <a:solidFill>
                  <a:srgbClr val="161823"/>
                </a:solidFill>
                <a:latin typeface="微软雅黑"/>
                <a:ea typeface="微软雅黑"/>
              </a:rPr>
              <a:t>精确触发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50616D"/>
                </a:solidFill>
                <a:latin typeface="微软雅黑"/>
                <a:ea typeface="微软雅黑"/>
              </a:rPr>
              <a:t>用「$技能名」点名调用最精确。多数时候智能体也会按任务自动调用，点名只是更稳。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161288" y="5897880"/>
            <a:ext cx="9902952" cy="566928"/>
          </a:xfrm>
          <a:prstGeom prst="rect">
            <a:avLst/>
          </a:prstGeom>
          <a:solidFill>
            <a:srgbClr val="1618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71600" y="5897880"/>
            <a:ext cx="96012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D6ECF0"/>
                </a:solidFill>
                <a:latin typeface="楷体"/>
                <a:ea typeface="楷体"/>
              </a:rPr>
              <a:t>›  $my-design-style  请用中国传统色风格，做一份介绍本工作流的 PPT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BF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rice_paper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652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66928" y="603504"/>
            <a:ext cx="365760" cy="365760"/>
          </a:xfrm>
          <a:prstGeom prst="ellipse">
            <a:avLst/>
          </a:prstGeom>
          <a:solidFill>
            <a:srgbClr val="9D2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03504"/>
            <a:ext cx="548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BF0"/>
                </a:solidFill>
                <a:latin typeface="宋体"/>
                <a:ea typeface="宋体"/>
              </a:rPr>
              <a:t>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457200"/>
            <a:ext cx="8686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 i="0">
                <a:solidFill>
                  <a:srgbClr val="161823"/>
                </a:solidFill>
                <a:latin typeface="宋体"/>
                <a:ea typeface="宋体"/>
              </a:rPr>
              <a:t>产物与格式 · 要「可编辑」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1078992"/>
            <a:ext cx="8686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177CB0"/>
                </a:solidFill>
                <a:latin typeface="微软雅黑"/>
                <a:ea typeface="微软雅黑"/>
              </a:rPr>
              <a:t>EDITABLE DELIVERABLES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161288" y="1481328"/>
            <a:ext cx="9875520" cy="0"/>
          </a:xfrm>
          <a:prstGeom prst="bentConnector3">
            <a:avLst/>
          </a:prstGeom>
          <a:ln w="12700">
            <a:solidFill>
              <a:srgbClr val="BACAC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161288" y="1627632"/>
            <a:ext cx="99669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50616D"/>
                </a:solidFill>
                <a:latin typeface="微软雅黑"/>
                <a:ea typeface="微软雅黑"/>
              </a:rPr>
              <a:t>要求技能产出可编辑格式，方便你二次核实与微调。科研场景尤其推荐 SVG 与 LaTeX→PDF。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61288" y="2331720"/>
            <a:ext cx="320040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BACA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61288" y="2331720"/>
            <a:ext cx="3200400" cy="868680"/>
          </a:xfrm>
          <a:prstGeom prst="rect">
            <a:avLst/>
          </a:prstGeom>
          <a:solidFill>
            <a:srgbClr val="177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61288" y="2478024"/>
            <a:ext cx="3200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宋体"/>
                <a:ea typeface="宋体"/>
              </a:rPr>
              <a:t>SVG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35608" y="3383279"/>
            <a:ext cx="2697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50616D"/>
                </a:solidFill>
                <a:latin typeface="微软雅黑"/>
                <a:ea typeface="微软雅黑"/>
              </a:rPr>
              <a:t>矢量图、流程图、科研配图，可无损缩放与逐元素编辑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63440" y="2331720"/>
            <a:ext cx="320040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BACA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663440" y="2331720"/>
            <a:ext cx="3200400" cy="868680"/>
          </a:xfrm>
          <a:prstGeom prst="rect">
            <a:avLst/>
          </a:prstGeom>
          <a:solidFill>
            <a:srgbClr val="0652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63440" y="2478024"/>
            <a:ext cx="3200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宋体"/>
                <a:ea typeface="宋体"/>
              </a:rPr>
              <a:t>PPT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59" y="3383279"/>
            <a:ext cx="2697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50616D"/>
                </a:solidFill>
                <a:latin typeface="微软雅黑"/>
                <a:ea typeface="微软雅黑"/>
              </a:rPr>
              <a:t>汇报、答辩、模板，形状与文字均可在 PowerPoint 内改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65592" y="2331720"/>
            <a:ext cx="320040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BACA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65592" y="2331720"/>
            <a:ext cx="3200400" cy="868680"/>
          </a:xfrm>
          <a:prstGeom prst="rect">
            <a:avLst/>
          </a:prstGeom>
          <a:solidFill>
            <a:srgbClr val="4B5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65592" y="2478024"/>
            <a:ext cx="3200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宋体"/>
                <a:ea typeface="宋体"/>
              </a:rPr>
              <a:t>PDF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39912" y="3383279"/>
            <a:ext cx="2697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50616D"/>
                </a:solidFill>
                <a:latin typeface="微软雅黑"/>
                <a:ea typeface="微软雅黑"/>
              </a:rPr>
              <a:t>LaTeX 生成的论文级排版，公式与版式稳定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61288" y="4983480"/>
            <a:ext cx="9902952" cy="914400"/>
          </a:xfrm>
          <a:prstGeom prst="rect">
            <a:avLst/>
          </a:prstGeom>
          <a:solidFill>
            <a:srgbClr val="D6E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417320" y="5285232"/>
            <a:ext cx="256032" cy="256032"/>
          </a:xfrm>
          <a:prstGeom prst="ellipse">
            <a:avLst/>
          </a:prstGeom>
          <a:solidFill>
            <a:srgbClr val="EACD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828800" y="5029200"/>
            <a:ext cx="91440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161823"/>
                </a:solidFill>
                <a:latin typeface="微软雅黑"/>
                <a:ea typeface="微软雅黑"/>
              </a:rPr>
              <a:t>成稿常有细微偏移或重叠，需要你自行核实修改。下一页说明：</a:t>
            </a:r>
            <a:r>
              <a:rPr sz="1300" b="1" i="0">
                <a:solidFill>
                  <a:srgbClr val="065279"/>
                </a:solidFill>
                <a:latin typeface="微软雅黑"/>
                <a:ea typeface="微软雅黑"/>
              </a:rPr>
              <a:t>哪些该自己动手。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BF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rice_paper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652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66928" y="603504"/>
            <a:ext cx="365760" cy="365760"/>
          </a:xfrm>
          <a:prstGeom prst="ellipse">
            <a:avLst/>
          </a:prstGeom>
          <a:solidFill>
            <a:srgbClr val="9D2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03504"/>
            <a:ext cx="548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BF0"/>
                </a:solidFill>
                <a:latin typeface="宋体"/>
                <a:ea typeface="宋体"/>
              </a:rPr>
              <a:t>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457200"/>
            <a:ext cx="8686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 i="0">
                <a:solidFill>
                  <a:srgbClr val="161823"/>
                </a:solidFill>
                <a:latin typeface="宋体"/>
                <a:ea typeface="宋体"/>
              </a:rPr>
              <a:t>微调的边界 · 各司其职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1078992"/>
            <a:ext cx="8686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177CB0"/>
                </a:solidFill>
                <a:latin typeface="微软雅黑"/>
                <a:ea typeface="微软雅黑"/>
              </a:rPr>
              <a:t>WHERE AI HELPS, WHERE YOU DO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161288" y="1481328"/>
            <a:ext cx="9875520" cy="0"/>
          </a:xfrm>
          <a:prstGeom prst="bentConnector3">
            <a:avLst/>
          </a:prstGeom>
          <a:ln w="12700">
            <a:solidFill>
              <a:srgbClr val="BACAC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1161288" y="1828800"/>
            <a:ext cx="4846320" cy="4023360"/>
          </a:xfrm>
          <a:prstGeom prst="rect">
            <a:avLst/>
          </a:prstGeom>
          <a:solidFill>
            <a:srgbClr val="FFFFFF"/>
          </a:solidFill>
          <a:ln w="9525">
            <a:solidFill>
              <a:srgbClr val="BACA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61288" y="1828800"/>
            <a:ext cx="4846320" cy="731520"/>
          </a:xfrm>
          <a:prstGeom prst="rect">
            <a:avLst/>
          </a:prstGeom>
          <a:solidFill>
            <a:srgbClr val="177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17320" y="1938528"/>
            <a:ext cx="4389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FFFFFF"/>
                </a:solidFill>
                <a:latin typeface="微软雅黑"/>
                <a:ea typeface="微软雅黑"/>
              </a:rPr>
              <a:t>交给 AI</a:t>
            </a:r>
          </a:p>
        </p:txBody>
      </p:sp>
      <p:sp>
        <p:nvSpPr>
          <p:cNvPr id="12" name="Oval 11"/>
          <p:cNvSpPr/>
          <p:nvPr/>
        </p:nvSpPr>
        <p:spPr>
          <a:xfrm>
            <a:off x="1463040" y="2843784"/>
            <a:ext cx="128016" cy="128016"/>
          </a:xfrm>
          <a:prstGeom prst="ellipse">
            <a:avLst/>
          </a:prstGeom>
          <a:solidFill>
            <a:srgbClr val="177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00784" y="2752344"/>
            <a:ext cx="4114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161823"/>
                </a:solidFill>
                <a:latin typeface="微软雅黑"/>
                <a:ea typeface="微软雅黑"/>
              </a:rPr>
              <a:t>结构、配色、版式与内容草稿</a:t>
            </a:r>
          </a:p>
        </p:txBody>
      </p:sp>
      <p:sp>
        <p:nvSpPr>
          <p:cNvPr id="14" name="Oval 13"/>
          <p:cNvSpPr/>
          <p:nvPr/>
        </p:nvSpPr>
        <p:spPr>
          <a:xfrm>
            <a:off x="1463040" y="3593591"/>
            <a:ext cx="128016" cy="128016"/>
          </a:xfrm>
          <a:prstGeom prst="ellipse">
            <a:avLst/>
          </a:prstGeom>
          <a:solidFill>
            <a:srgbClr val="177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700784" y="3502151"/>
            <a:ext cx="4114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161823"/>
                </a:solidFill>
                <a:latin typeface="微软雅黑"/>
                <a:ea typeface="微软雅黑"/>
              </a:rPr>
              <a:t>生成可编辑的 SVG / PPT / PDF</a:t>
            </a:r>
          </a:p>
        </p:txBody>
      </p:sp>
      <p:sp>
        <p:nvSpPr>
          <p:cNvPr id="16" name="Oval 15"/>
          <p:cNvSpPr/>
          <p:nvPr/>
        </p:nvSpPr>
        <p:spPr>
          <a:xfrm>
            <a:off x="1463040" y="4343399"/>
            <a:ext cx="128016" cy="128016"/>
          </a:xfrm>
          <a:prstGeom prst="ellipse">
            <a:avLst/>
          </a:prstGeom>
          <a:solidFill>
            <a:srgbClr val="177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700784" y="4251959"/>
            <a:ext cx="4114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161823"/>
                </a:solidFill>
                <a:latin typeface="微软雅黑"/>
                <a:ea typeface="微软雅黑"/>
              </a:rPr>
              <a:t>套用风格契约与色卡规范</a:t>
            </a:r>
          </a:p>
        </p:txBody>
      </p:sp>
      <p:sp>
        <p:nvSpPr>
          <p:cNvPr id="18" name="Oval 17"/>
          <p:cNvSpPr/>
          <p:nvPr/>
        </p:nvSpPr>
        <p:spPr>
          <a:xfrm>
            <a:off x="1463040" y="5093207"/>
            <a:ext cx="128016" cy="128016"/>
          </a:xfrm>
          <a:prstGeom prst="ellipse">
            <a:avLst/>
          </a:prstGeom>
          <a:solidFill>
            <a:srgbClr val="177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700784" y="5001768"/>
            <a:ext cx="4114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161823"/>
                </a:solidFill>
                <a:latin typeface="微软雅黑"/>
                <a:ea typeface="微软雅黑"/>
              </a:rPr>
              <a:t>批量铺排页面节奏与图表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36208" y="1828800"/>
            <a:ext cx="4846320" cy="4023360"/>
          </a:xfrm>
          <a:prstGeom prst="rect">
            <a:avLst/>
          </a:prstGeom>
          <a:solidFill>
            <a:srgbClr val="FFFFFF"/>
          </a:solidFill>
          <a:ln w="9525">
            <a:solidFill>
              <a:srgbClr val="BACAC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36208" y="1828800"/>
            <a:ext cx="4846320" cy="731520"/>
          </a:xfrm>
          <a:prstGeom prst="rect">
            <a:avLst/>
          </a:prstGeom>
          <a:solidFill>
            <a:srgbClr val="9D2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1938528"/>
            <a:ext cx="4389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FFFFFF"/>
                </a:solidFill>
                <a:latin typeface="微软雅黑"/>
                <a:ea typeface="微软雅黑"/>
              </a:rPr>
              <a:t>自己动手</a:t>
            </a:r>
          </a:p>
        </p:txBody>
      </p:sp>
      <p:sp>
        <p:nvSpPr>
          <p:cNvPr id="23" name="Oval 22"/>
          <p:cNvSpPr/>
          <p:nvPr/>
        </p:nvSpPr>
        <p:spPr>
          <a:xfrm>
            <a:off x="6537960" y="2843784"/>
            <a:ext cx="128016" cy="128016"/>
          </a:xfrm>
          <a:prstGeom prst="ellipse">
            <a:avLst/>
          </a:prstGeom>
          <a:solidFill>
            <a:srgbClr val="9D2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75704" y="2752344"/>
            <a:ext cx="4114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161823"/>
                </a:solidFill>
                <a:latin typeface="微软雅黑"/>
                <a:ea typeface="微软雅黑"/>
              </a:rPr>
              <a:t>像素级的位置与重叠微调</a:t>
            </a:r>
          </a:p>
        </p:txBody>
      </p:sp>
      <p:sp>
        <p:nvSpPr>
          <p:cNvPr id="25" name="Oval 24"/>
          <p:cNvSpPr/>
          <p:nvPr/>
        </p:nvSpPr>
        <p:spPr>
          <a:xfrm>
            <a:off x="6537960" y="3593591"/>
            <a:ext cx="128016" cy="128016"/>
          </a:xfrm>
          <a:prstGeom prst="ellipse">
            <a:avLst/>
          </a:prstGeom>
          <a:solidFill>
            <a:srgbClr val="9D2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75704" y="3502151"/>
            <a:ext cx="4114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161823"/>
                </a:solidFill>
                <a:latin typeface="微软雅黑"/>
                <a:ea typeface="微软雅黑"/>
              </a:rPr>
              <a:t>字距、行高的最后一两步对齐</a:t>
            </a:r>
          </a:p>
        </p:txBody>
      </p:sp>
      <p:sp>
        <p:nvSpPr>
          <p:cNvPr id="27" name="Oval 26"/>
          <p:cNvSpPr/>
          <p:nvPr/>
        </p:nvSpPr>
        <p:spPr>
          <a:xfrm>
            <a:off x="6537960" y="4343399"/>
            <a:ext cx="128016" cy="128016"/>
          </a:xfrm>
          <a:prstGeom prst="ellipse">
            <a:avLst/>
          </a:prstGeom>
          <a:solidFill>
            <a:srgbClr val="9D2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75704" y="4251959"/>
            <a:ext cx="4114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161823"/>
                </a:solidFill>
                <a:latin typeface="微软雅黑"/>
                <a:ea typeface="微软雅黑"/>
              </a:rPr>
              <a:t>事实、数据与措辞的终审</a:t>
            </a:r>
          </a:p>
        </p:txBody>
      </p:sp>
      <p:sp>
        <p:nvSpPr>
          <p:cNvPr id="29" name="Oval 28"/>
          <p:cNvSpPr/>
          <p:nvPr/>
        </p:nvSpPr>
        <p:spPr>
          <a:xfrm>
            <a:off x="6537960" y="5093207"/>
            <a:ext cx="128016" cy="128016"/>
          </a:xfrm>
          <a:prstGeom prst="ellipse">
            <a:avLst/>
          </a:prstGeom>
          <a:solidFill>
            <a:srgbClr val="9D2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75704" y="5001768"/>
            <a:ext cx="4114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161823"/>
                </a:solidFill>
                <a:latin typeface="微软雅黑"/>
                <a:ea typeface="微软雅黑"/>
              </a:rPr>
              <a:t>导出后在原生软件里的精修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161288" y="6053328"/>
            <a:ext cx="9902952" cy="512064"/>
          </a:xfrm>
          <a:prstGeom prst="rect">
            <a:avLst/>
          </a:prstGeom>
          <a:solidFill>
            <a:srgbClr val="1618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61288" y="6053328"/>
            <a:ext cx="9902952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D6ECF0"/>
                </a:solidFill>
                <a:latin typeface="楷体"/>
                <a:ea typeface="楷体"/>
              </a:rPr>
              <a:t>微调不要依赖 AI——目前它不擅长，反而拖慢效率。把精修留给自己，把铺量交给智能体。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527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order_go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0208" y="457200"/>
            <a:ext cx="4297680" cy="1688675"/>
          </a:xfrm>
          <a:prstGeom prst="rect">
            <a:avLst/>
          </a:prstGeom>
        </p:spPr>
      </p:pic>
      <p:cxnSp>
        <p:nvCxnSpPr>
          <p:cNvPr id="3" name="Connector 2"/>
          <p:cNvCxnSpPr/>
          <p:nvPr/>
        </p:nvCxnSpPr>
        <p:spPr>
          <a:xfrm>
            <a:off x="1188720" y="2331720"/>
            <a:ext cx="2743200" cy="0"/>
          </a:xfrm>
          <a:prstGeom prst="bentConnector3">
            <a:avLst/>
          </a:prstGeom>
          <a:ln w="25400">
            <a:solidFill>
              <a:srgbClr val="EACD7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188720" y="2468880"/>
            <a:ext cx="100584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FFFBF0"/>
                </a:solidFill>
                <a:latin typeface="宋体"/>
                <a:ea typeface="宋体"/>
              </a:rPr>
              <a:t>装上技能，描述意图，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FFFBF0"/>
                </a:solidFill>
                <a:latin typeface="宋体"/>
                <a:ea typeface="宋体"/>
              </a:rPr>
              <a:t>把初稿交给智能体，把精修留给自己。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07008" y="443484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A1AFC9"/>
                </a:solidFill>
                <a:latin typeface="微软雅黑"/>
                <a:ea typeface="微软雅黑"/>
              </a:rPr>
              <a:t>Install the skill · describe the intent · let the agent draft, you refine.</a:t>
            </a:r>
          </a:p>
        </p:txBody>
      </p:sp>
      <p:sp>
        <p:nvSpPr>
          <p:cNvPr id="6" name="Oval 5"/>
          <p:cNvSpPr/>
          <p:nvPr/>
        </p:nvSpPr>
        <p:spPr>
          <a:xfrm>
            <a:off x="1207008" y="5212080"/>
            <a:ext cx="457200" cy="457200"/>
          </a:xfrm>
          <a:prstGeom prst="ellipse">
            <a:avLst/>
          </a:prstGeom>
          <a:solidFill>
            <a:srgbClr val="9D2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98448" y="5276088"/>
            <a:ext cx="914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FFFBF0"/>
                </a:solidFill>
                <a:latin typeface="楷体"/>
                <a:ea typeface="楷体"/>
              </a:rPr>
              <a:t>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5230368"/>
            <a:ext cx="91440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D6ECF0"/>
                </a:solidFill>
                <a:latin typeface="微软雅黑"/>
                <a:ea typeface="微软雅黑"/>
              </a:rPr>
              <a:t>my-design-style · chinese_traditional_color_style · 靛青学者 × 墨纸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