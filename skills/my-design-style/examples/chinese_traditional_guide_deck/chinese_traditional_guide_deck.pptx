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5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55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B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_textu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solidFill>
            <a:srgbClr val="06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60520" y="0"/>
            <a:ext cx="54864" cy="6858000"/>
          </a:xfrm>
          <a:prstGeom prst="rect">
            <a:avLst/>
          </a:prstGeom>
          <a:solidFill>
            <a:srgbClr val="EAC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292608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FFFBF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设</a:t>
            </a:r>
            <a:endParaRPr sz="5400" b="1" i="0">
              <a:solidFill>
                <a:srgbClr val="FFFBF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FFFBF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计</a:t>
            </a:r>
            <a:endParaRPr sz="5400" b="1" i="0">
              <a:solidFill>
                <a:srgbClr val="FFFBF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FFFBF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初</a:t>
            </a:r>
            <a:endParaRPr sz="5400" b="1" i="0">
              <a:solidFill>
                <a:srgbClr val="FFFBF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FFFBF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稿</a:t>
            </a:r>
            <a:endParaRPr sz="5400" b="1" i="0">
              <a:solidFill>
                <a:srgbClr val="FFFBF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" name="Oval 5"/>
          <p:cNvSpPr/>
          <p:nvPr/>
        </p:nvSpPr>
        <p:spPr>
          <a:xfrm>
            <a:off x="713232" y="5440680"/>
            <a:ext cx="457200" cy="457200"/>
          </a:xfrm>
          <a:prstGeom prst="ellipse">
            <a:avLst/>
          </a:prstGeom>
          <a:solidFill>
            <a:srgbClr val="9D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4632" y="5504688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BF0"/>
                </a:solidFill>
                <a:latin typeface="楷体" panose="02010609060101010101" charset="-122"/>
                <a:ea typeface="楷体" panose="02010609060101010101" charset="-122"/>
              </a:rPr>
              <a:t>匠</a:t>
            </a:r>
            <a:endParaRPr sz="1700" b="1" i="0">
              <a:solidFill>
                <a:srgbClr val="FFFBF0"/>
              </a:solidFill>
              <a:latin typeface="楷体" panose="02010609060101010101" charset="-122"/>
              <a:ea typeface="楷体" panose="02010609060101010101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800600" y="1554480"/>
            <a:ext cx="67665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 i="0">
                <a:solidFill>
                  <a:srgbClr val="065279"/>
                </a:solidFill>
                <a:latin typeface="微软雅黑" panose="020B0503020204020204" charset="-122"/>
                <a:ea typeface="微软雅黑" panose="020B0503020204020204" charset="-122"/>
              </a:rPr>
              <a:t>AI Agent + Skill</a:t>
            </a:r>
            <a:endParaRPr sz="3300" b="1" i="0">
              <a:solidFill>
                <a:srgbClr val="065279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161823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设计工作流指南</a:t>
            </a:r>
            <a:endParaRPr sz="4000" b="1" i="0">
              <a:solidFill>
                <a:srgbClr val="161823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4864608" y="3611880"/>
            <a:ext cx="3840480" cy="0"/>
          </a:xfrm>
          <a:prstGeom prst="bentConnector3">
            <a:avLst/>
          </a:prstGeom>
          <a:ln w="25400">
            <a:solidFill>
              <a:srgbClr val="EACD7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846320" y="3794760"/>
            <a:ext cx="65836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50616D"/>
                </a:solidFill>
                <a:latin typeface="微软雅黑" panose="020B0503020204020204" charset="-122"/>
                <a:ea typeface="微软雅黑" panose="020B0503020204020204" charset="-122"/>
              </a:rPr>
              <a:t>用 大模型 + 技能 + 工具 生成「可用且美观」的设计与科研初稿</a:t>
            </a:r>
            <a:endParaRPr sz="1550" b="0" i="0">
              <a:solidFill>
                <a:srgbClr val="50616D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0616D"/>
                </a:solidFill>
                <a:latin typeface="微软雅黑" panose="020B0503020204020204" charset="-122"/>
                <a:ea typeface="微软雅黑" panose="020B0503020204020204" charset="-122"/>
              </a:rPr>
              <a:t>PPT · 科研绘图 · SVG · 海报 — 以 my-design-style 中国传统色风格演示</a:t>
            </a:r>
            <a:endParaRPr sz="1300" b="0" i="0">
              <a:solidFill>
                <a:srgbClr val="50616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846320" y="59436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77CB0"/>
                </a:solidFill>
                <a:latin typeface="微软雅黑" panose="020B0503020204020204" charset="-122"/>
                <a:ea typeface="微软雅黑" panose="020B0503020204020204" charset="-122"/>
              </a:rPr>
              <a:t>chinese_traditional_color_style  ·  靛青学者 × 墨纸  ·  2026</a:t>
            </a:r>
            <a:endParaRPr sz="1150" b="0" i="0">
              <a:solidFill>
                <a:srgbClr val="177CB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B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_textu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6928" y="603504"/>
            <a:ext cx="365760" cy="365760"/>
          </a:xfrm>
          <a:prstGeom prst="ellipse">
            <a:avLst/>
          </a:prstGeom>
          <a:solidFill>
            <a:srgbClr val="9D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615" y="621919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BF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色</a:t>
            </a:r>
            <a:endParaRPr sz="1500" b="1" i="0">
              <a:solidFill>
                <a:srgbClr val="FFFBF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43000" y="45720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161823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选用色卡 · 靛青学者 + 墨纸</a:t>
            </a:r>
            <a:endParaRPr sz="2700" b="1" i="0">
              <a:solidFill>
                <a:srgbClr val="161823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61288" y="1078992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77CB0"/>
                </a:solidFill>
                <a:latin typeface="微软雅黑" panose="020B0503020204020204" charset="-122"/>
                <a:ea typeface="微软雅黑" panose="020B0503020204020204" charset="-122"/>
              </a:rPr>
              <a:t>COLOR LEGEND — Indigo Scholarly × Ink Paper</a:t>
            </a:r>
            <a:endParaRPr sz="1200" b="0" i="0">
              <a:solidFill>
                <a:srgbClr val="177CB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8" name="Connector 7"/>
          <p:cNvCxnSpPr/>
          <p:nvPr/>
        </p:nvCxnSpPr>
        <p:spPr>
          <a:xfrm>
            <a:off x="1161288" y="1481328"/>
            <a:ext cx="9875520" cy="0"/>
          </a:xfrm>
          <a:prstGeom prst="bentConnector3">
            <a:avLst/>
          </a:prstGeom>
          <a:ln w="12700">
            <a:solidFill>
              <a:srgbClr val="BACA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61288" y="1627632"/>
            <a:ext cx="9966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50616D"/>
                </a:solidFill>
                <a:latin typeface="微软雅黑" panose="020B0503020204020204" charset="-122"/>
                <a:ea typeface="微软雅黑" panose="020B0503020204020204" charset="-122"/>
              </a:rPr>
              <a:t>全部取自《中国传统色》命名色，主色一张色卡贯穿全篇，墨纸作底，金色仅作点睛。</a:t>
            </a:r>
            <a:endParaRPr sz="1350" b="0" i="0">
              <a:solidFill>
                <a:srgbClr val="50616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161288" y="2423160"/>
            <a:ext cx="1627632" cy="1783080"/>
          </a:xfrm>
          <a:prstGeom prst="rect">
            <a:avLst/>
          </a:prstGeom>
          <a:solidFill>
            <a:srgbClr val="177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1016" y="3364991"/>
            <a:ext cx="14447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靛青</a:t>
            </a:r>
            <a:endParaRPr sz="1800" b="1" i="0">
              <a:solidFill>
                <a:srgbClr val="FFFFFF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#177CB0</a:t>
            </a:r>
            <a:endParaRPr sz="1050" b="0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834640" y="2423160"/>
            <a:ext cx="1627632" cy="1783080"/>
          </a:xfrm>
          <a:prstGeom prst="rect">
            <a:avLst/>
          </a:prstGeom>
          <a:solidFill>
            <a:srgbClr val="06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44368" y="3364991"/>
            <a:ext cx="14447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靛蓝</a:t>
            </a:r>
            <a:endParaRPr sz="1800" b="1" i="0">
              <a:solidFill>
                <a:srgbClr val="FFFFFF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#065279</a:t>
            </a:r>
            <a:endParaRPr sz="1050" b="0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507992" y="2423160"/>
            <a:ext cx="1627632" cy="1783080"/>
          </a:xfrm>
          <a:prstGeom prst="rect">
            <a:avLst/>
          </a:prstGeom>
          <a:solidFill>
            <a:srgbClr val="44C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3364991"/>
            <a:ext cx="14447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61823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蓝</a:t>
            </a:r>
            <a:endParaRPr sz="1800" b="1" i="0">
              <a:solidFill>
                <a:srgbClr val="161823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61823"/>
                </a:solidFill>
                <a:latin typeface="微软雅黑" panose="020B0503020204020204" charset="-122"/>
                <a:ea typeface="微软雅黑" panose="020B0503020204020204" charset="-122"/>
              </a:rPr>
              <a:t>#44CEF6</a:t>
            </a:r>
            <a:endParaRPr sz="1050" b="0" i="0">
              <a:solidFill>
                <a:srgbClr val="16182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181344" y="2423160"/>
            <a:ext cx="1627632" cy="1783080"/>
          </a:xfrm>
          <a:prstGeom prst="rect">
            <a:avLst/>
          </a:prstGeom>
          <a:solidFill>
            <a:srgbClr val="4B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1072" y="3364991"/>
            <a:ext cx="14447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宝蓝</a:t>
            </a:r>
            <a:endParaRPr sz="1800" b="1" i="0">
              <a:solidFill>
                <a:srgbClr val="FFFFFF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#4B5CC4</a:t>
            </a:r>
            <a:endParaRPr sz="1050" b="0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854696" y="2423160"/>
            <a:ext cx="1627632" cy="1783080"/>
          </a:xfrm>
          <a:prstGeom prst="rect">
            <a:avLst/>
          </a:prstGeom>
          <a:solidFill>
            <a:srgbClr val="A1A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64423" y="3364991"/>
            <a:ext cx="14447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61823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蓝灰色</a:t>
            </a:r>
            <a:endParaRPr sz="1800" b="1" i="0">
              <a:solidFill>
                <a:srgbClr val="161823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61823"/>
                </a:solidFill>
                <a:latin typeface="微软雅黑" panose="020B0503020204020204" charset="-122"/>
                <a:ea typeface="微软雅黑" panose="020B0503020204020204" charset="-122"/>
              </a:rPr>
              <a:t>#A1AFC9</a:t>
            </a:r>
            <a:endParaRPr sz="1050" b="0" i="0">
              <a:solidFill>
                <a:srgbClr val="16182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9528048" y="2423160"/>
            <a:ext cx="1627632" cy="1783080"/>
          </a:xfrm>
          <a:prstGeom prst="rect">
            <a:avLst/>
          </a:prstGeom>
          <a:solidFill>
            <a:srgbClr val="D6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37776" y="3364991"/>
            <a:ext cx="14447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61823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月白</a:t>
            </a:r>
            <a:endParaRPr sz="1800" b="1" i="0">
              <a:solidFill>
                <a:srgbClr val="161823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61823"/>
                </a:solidFill>
                <a:latin typeface="微软雅黑" panose="020B0503020204020204" charset="-122"/>
                <a:ea typeface="微软雅黑" panose="020B0503020204020204" charset="-122"/>
              </a:rPr>
              <a:t>#D6ECF0</a:t>
            </a:r>
            <a:endParaRPr sz="1050" b="0" i="0">
              <a:solidFill>
                <a:srgbClr val="16182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1161288" y="4645152"/>
            <a:ext cx="118872" cy="118872"/>
          </a:xfrm>
          <a:prstGeom prst="ellipse">
            <a:avLst/>
          </a:prstGeom>
          <a:solidFill>
            <a:srgbClr val="EAC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0" y="4562856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65279"/>
                </a:solidFill>
                <a:latin typeface="微软雅黑" panose="020B0503020204020204" charset="-122"/>
                <a:ea typeface="微软雅黑" panose="020B0503020204020204" charset="-122"/>
              </a:rPr>
              <a:t>靛青 / 靛蓝</a:t>
            </a:r>
            <a:endParaRPr sz="1250" b="1" i="0">
              <a:solidFill>
                <a:srgbClr val="0652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931920" y="4562856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0616D"/>
                </a:solidFill>
                <a:latin typeface="微软雅黑" panose="020B0503020204020204" charset="-122"/>
                <a:ea typeface="微软雅黑" panose="020B0503020204020204" charset="-122"/>
              </a:rPr>
              <a:t>标题、导航、图表主序列与强调色块</a:t>
            </a:r>
            <a:endParaRPr sz="1250" b="0" i="0">
              <a:solidFill>
                <a:srgbClr val="50616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Oval 24"/>
          <p:cNvSpPr/>
          <p:nvPr/>
        </p:nvSpPr>
        <p:spPr>
          <a:xfrm>
            <a:off x="1161288" y="5102352"/>
            <a:ext cx="118872" cy="118872"/>
          </a:xfrm>
          <a:prstGeom prst="ellipse">
            <a:avLst/>
          </a:prstGeom>
          <a:solidFill>
            <a:srgbClr val="EAC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0" y="5020056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65279"/>
                </a:solidFill>
                <a:latin typeface="微软雅黑" panose="020B0503020204020204" charset="-122"/>
                <a:ea typeface="微软雅黑" panose="020B0503020204020204" charset="-122"/>
              </a:rPr>
              <a:t>蓝 / 宝蓝</a:t>
            </a:r>
            <a:endParaRPr sz="1250" b="1" i="0">
              <a:solidFill>
                <a:srgbClr val="0652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931920" y="5020056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0616D"/>
                </a:solidFill>
                <a:latin typeface="微软雅黑" panose="020B0503020204020204" charset="-122"/>
                <a:ea typeface="微软雅黑" panose="020B0503020204020204" charset="-122"/>
              </a:rPr>
              <a:t>次级强调、链接、数据辅助系列</a:t>
            </a:r>
            <a:endParaRPr sz="1250" b="0" i="0">
              <a:solidFill>
                <a:srgbClr val="50616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Oval 27"/>
          <p:cNvSpPr/>
          <p:nvPr/>
        </p:nvSpPr>
        <p:spPr>
          <a:xfrm>
            <a:off x="1161288" y="5559552"/>
            <a:ext cx="118872" cy="118872"/>
          </a:xfrm>
          <a:prstGeom prst="ellipse">
            <a:avLst/>
          </a:prstGeom>
          <a:solidFill>
            <a:srgbClr val="EAC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0" y="5477256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65279"/>
                </a:solidFill>
                <a:latin typeface="微软雅黑" panose="020B0503020204020204" charset="-122"/>
                <a:ea typeface="微软雅黑" panose="020B0503020204020204" charset="-122"/>
              </a:rPr>
              <a:t>月白 / 蓝灰</a:t>
            </a:r>
            <a:endParaRPr sz="1250" b="1" i="0">
              <a:solidFill>
                <a:srgbClr val="0652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3931920" y="5477256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0616D"/>
                </a:solidFill>
                <a:latin typeface="微软雅黑" panose="020B0503020204020204" charset="-122"/>
                <a:ea typeface="微软雅黑" panose="020B0503020204020204" charset="-122"/>
              </a:rPr>
              <a:t>大面积浅底、留白过渡、安静面板</a:t>
            </a:r>
            <a:endParaRPr sz="1250" b="0" i="0">
              <a:solidFill>
                <a:srgbClr val="50616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1161288" y="6016752"/>
            <a:ext cx="118872" cy="118872"/>
          </a:xfrm>
          <a:prstGeom prst="ellipse">
            <a:avLst/>
          </a:prstGeom>
          <a:solidFill>
            <a:srgbClr val="EAC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71600" y="5934456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65279"/>
                </a:solidFill>
                <a:latin typeface="微软雅黑" panose="020B0503020204020204" charset="-122"/>
                <a:ea typeface="微软雅黑" panose="020B0503020204020204" charset="-122"/>
              </a:rPr>
              <a:t>金色 · 胭脂</a:t>
            </a:r>
            <a:endParaRPr sz="1250" b="1" i="0">
              <a:solidFill>
                <a:srgbClr val="0652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931920" y="5934456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0616D"/>
                </a:solidFill>
                <a:latin typeface="微软雅黑" panose="020B0503020204020204" charset="-122"/>
                <a:ea typeface="微软雅黑" panose="020B0503020204020204" charset="-122"/>
              </a:rPr>
              <a:t>细分割线点睛、印章红仅作节奏锚点</a:t>
            </a:r>
            <a:endParaRPr sz="1250" b="0" i="0">
              <a:solidFill>
                <a:srgbClr val="50616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B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_textu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6928" y="603504"/>
            <a:ext cx="365760" cy="365760"/>
          </a:xfrm>
          <a:prstGeom prst="ellipse">
            <a:avLst/>
          </a:prstGeom>
          <a:solidFill>
            <a:srgbClr val="9D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615" y="621919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BF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录</a:t>
            </a:r>
            <a:endParaRPr sz="1500" b="1" i="0">
              <a:solidFill>
                <a:srgbClr val="FFFBF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43000" y="45720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161823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目录 · 五个章节</a:t>
            </a:r>
            <a:endParaRPr sz="2700" b="1" i="0">
              <a:solidFill>
                <a:srgbClr val="161823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61288" y="1078992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77CB0"/>
                </a:solidFill>
                <a:latin typeface="微软雅黑" panose="020B0503020204020204" charset="-122"/>
                <a:ea typeface="微软雅黑" panose="020B0503020204020204" charset="-122"/>
              </a:rPr>
              <a:t>AGENDA</a:t>
            </a:r>
            <a:endParaRPr sz="1200" b="0" i="0">
              <a:solidFill>
                <a:srgbClr val="177CB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8" name="Connector 7"/>
          <p:cNvCxnSpPr/>
          <p:nvPr/>
        </p:nvCxnSpPr>
        <p:spPr>
          <a:xfrm>
            <a:off x="1161288" y="1481328"/>
            <a:ext cx="9875520" cy="0"/>
          </a:xfrm>
          <a:prstGeom prst="bentConnector3">
            <a:avLst/>
          </a:prstGeom>
          <a:ln w="12700">
            <a:solidFill>
              <a:srgbClr val="BACA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1161288" y="1920240"/>
            <a:ext cx="507492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BACA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61288" y="1920240"/>
            <a:ext cx="109728" cy="1143000"/>
          </a:xfrm>
          <a:prstGeom prst="rect">
            <a:avLst/>
          </a:prstGeom>
          <a:solidFill>
            <a:srgbClr val="177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53896" y="2066544"/>
            <a:ext cx="1097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77CB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01</a:t>
            </a:r>
            <a:endParaRPr sz="3000" b="1" i="0">
              <a:solidFill>
                <a:srgbClr val="177CB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532888" y="2103120"/>
            <a:ext cx="352043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61823"/>
                </a:solidFill>
                <a:latin typeface="微软雅黑" panose="020B0503020204020204" charset="-122"/>
                <a:ea typeface="微软雅黑" panose="020B0503020204020204" charset="-122"/>
              </a:rPr>
              <a:t>工作流总览</a:t>
            </a:r>
            <a:endParaRPr sz="1800" b="1" i="0">
              <a:solidFill>
                <a:srgbClr val="16182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0616D"/>
                </a:solidFill>
                <a:latin typeface="微软雅黑" panose="020B0503020204020204" charset="-122"/>
                <a:ea typeface="微软雅黑" panose="020B0503020204020204" charset="-122"/>
              </a:rPr>
              <a:t>Agent + Skill + MCP 三件套如何协作</a:t>
            </a:r>
            <a:endParaRPr sz="1200" b="0" i="0">
              <a:solidFill>
                <a:srgbClr val="50616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693408" y="1920240"/>
            <a:ext cx="507492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BACA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93408" y="1920240"/>
            <a:ext cx="109728" cy="1143000"/>
          </a:xfrm>
          <a:prstGeom prst="rect">
            <a:avLst/>
          </a:prstGeom>
          <a:solidFill>
            <a:srgbClr val="177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86016" y="2066544"/>
            <a:ext cx="1097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77CB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02</a:t>
            </a:r>
            <a:endParaRPr sz="3000" b="1" i="0">
              <a:solidFill>
                <a:srgbClr val="177CB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065008" y="2103120"/>
            <a:ext cx="352043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61823"/>
                </a:solidFill>
                <a:latin typeface="微软雅黑" panose="020B0503020204020204" charset="-122"/>
                <a:ea typeface="微软雅黑" panose="020B0503020204020204" charset="-122"/>
              </a:rPr>
              <a:t>选型建议</a:t>
            </a:r>
            <a:endParaRPr sz="1800" b="1" i="0">
              <a:solidFill>
                <a:srgbClr val="16182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0616D"/>
                </a:solidFill>
                <a:latin typeface="微软雅黑" panose="020B0503020204020204" charset="-122"/>
                <a:ea typeface="微软雅黑" panose="020B0503020204020204" charset="-122"/>
              </a:rPr>
              <a:t>Agent 与大模型，2026 年的推荐组合</a:t>
            </a:r>
            <a:endParaRPr sz="1200" b="0" i="0">
              <a:solidFill>
                <a:srgbClr val="50616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1161288" y="3291840"/>
            <a:ext cx="507492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BACA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61288" y="3291840"/>
            <a:ext cx="109728" cy="1143000"/>
          </a:xfrm>
          <a:prstGeom prst="rect">
            <a:avLst/>
          </a:prstGeom>
          <a:solidFill>
            <a:srgbClr val="177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53896" y="3438144"/>
            <a:ext cx="1097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77CB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03</a:t>
            </a:r>
            <a:endParaRPr sz="3000" b="1" i="0">
              <a:solidFill>
                <a:srgbClr val="177CB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532888" y="3474720"/>
            <a:ext cx="352043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61823"/>
                </a:solidFill>
                <a:latin typeface="微软雅黑" panose="020B0503020204020204" charset="-122"/>
                <a:ea typeface="微软雅黑" panose="020B0503020204020204" charset="-122"/>
              </a:rPr>
              <a:t>安装与调用</a:t>
            </a:r>
            <a:endParaRPr sz="1800" b="1" i="0">
              <a:solidFill>
                <a:srgbClr val="16182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0616D"/>
                </a:solidFill>
                <a:latin typeface="微软雅黑" panose="020B0503020204020204" charset="-122"/>
                <a:ea typeface="微软雅黑" panose="020B0503020204020204" charset="-122"/>
              </a:rPr>
              <a:t>如何为环境装上 skill 并精确触发</a:t>
            </a:r>
            <a:endParaRPr sz="1200" b="0" i="0">
              <a:solidFill>
                <a:srgbClr val="50616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693408" y="3291840"/>
            <a:ext cx="507492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BACA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93408" y="3291840"/>
            <a:ext cx="109728" cy="1143000"/>
          </a:xfrm>
          <a:prstGeom prst="rect">
            <a:avLst/>
          </a:prstGeom>
          <a:solidFill>
            <a:srgbClr val="177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86016" y="3438144"/>
            <a:ext cx="1097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77CB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04</a:t>
            </a:r>
            <a:endParaRPr sz="3000" b="1" i="0">
              <a:solidFill>
                <a:srgbClr val="177CB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065008" y="3474720"/>
            <a:ext cx="352043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61823"/>
                </a:solidFill>
                <a:latin typeface="微软雅黑" panose="020B0503020204020204" charset="-122"/>
                <a:ea typeface="微软雅黑" panose="020B0503020204020204" charset="-122"/>
              </a:rPr>
              <a:t>产物与格式</a:t>
            </a:r>
            <a:endParaRPr sz="1800" b="1" i="0">
              <a:solidFill>
                <a:srgbClr val="16182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0616D"/>
                </a:solidFill>
                <a:latin typeface="微软雅黑" panose="020B0503020204020204" charset="-122"/>
                <a:ea typeface="微软雅黑" panose="020B0503020204020204" charset="-122"/>
              </a:rPr>
              <a:t>为什么要可编辑的 SVG / PPT / PDF</a:t>
            </a:r>
            <a:endParaRPr sz="1200" b="0" i="0">
              <a:solidFill>
                <a:srgbClr val="50616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927348" y="4663440"/>
            <a:ext cx="507492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BACA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927348" y="4663440"/>
            <a:ext cx="109728" cy="1143000"/>
          </a:xfrm>
          <a:prstGeom prst="rect">
            <a:avLst/>
          </a:prstGeom>
          <a:solidFill>
            <a:srgbClr val="177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19956" y="4809744"/>
            <a:ext cx="1097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77CB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05</a:t>
            </a:r>
            <a:endParaRPr sz="3000" b="1" i="0">
              <a:solidFill>
                <a:srgbClr val="177CB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298948" y="4846320"/>
            <a:ext cx="352043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61823"/>
                </a:solidFill>
                <a:latin typeface="微软雅黑" panose="020B0503020204020204" charset="-122"/>
                <a:ea typeface="微软雅黑" panose="020B0503020204020204" charset="-122"/>
              </a:rPr>
              <a:t>微调的边界</a:t>
            </a:r>
            <a:endParaRPr sz="1800" b="1" i="0">
              <a:solidFill>
                <a:srgbClr val="16182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0616D"/>
                </a:solidFill>
                <a:latin typeface="微软雅黑" panose="020B0503020204020204" charset="-122"/>
                <a:ea typeface="微软雅黑" panose="020B0503020204020204" charset="-122"/>
              </a:rPr>
              <a:t>哪些该交给 AI，哪些该自己动手</a:t>
            </a:r>
            <a:endParaRPr sz="1200" b="0" i="0">
              <a:solidFill>
                <a:srgbClr val="50616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B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_textu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6928" y="603504"/>
            <a:ext cx="365760" cy="365760"/>
          </a:xfrm>
          <a:prstGeom prst="ellipse">
            <a:avLst/>
          </a:prstGeom>
          <a:solidFill>
            <a:srgbClr val="9D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615" y="621919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BF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流</a:t>
            </a:r>
            <a:endParaRPr sz="1500" b="1" i="0">
              <a:solidFill>
                <a:srgbClr val="FFFBF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43000" y="45720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161823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工作流总览 · Agent + Skill + MCP</a:t>
            </a:r>
            <a:endParaRPr sz="2700" b="1" i="0">
              <a:solidFill>
                <a:srgbClr val="161823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61288" y="1078992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77CB0"/>
                </a:solidFill>
                <a:latin typeface="微软雅黑" panose="020B0503020204020204" charset="-122"/>
                <a:ea typeface="微软雅黑" panose="020B0503020204020204" charset="-122"/>
              </a:rPr>
              <a:t>HOW THE PIECES FIT</a:t>
            </a:r>
            <a:endParaRPr sz="1200" b="0" i="0">
              <a:solidFill>
                <a:srgbClr val="177CB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8" name="Connector 7"/>
          <p:cNvCxnSpPr/>
          <p:nvPr/>
        </p:nvCxnSpPr>
        <p:spPr>
          <a:xfrm>
            <a:off x="1161288" y="1481328"/>
            <a:ext cx="9875520" cy="0"/>
          </a:xfrm>
          <a:prstGeom prst="bentConnector3">
            <a:avLst/>
          </a:prstGeom>
          <a:ln w="12700">
            <a:solidFill>
              <a:srgbClr val="BACA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61288" y="1627632"/>
            <a:ext cx="9966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50616D"/>
                </a:solidFill>
                <a:latin typeface="微软雅黑" panose="020B0503020204020204" charset="-122"/>
                <a:ea typeface="微软雅黑" panose="020B0503020204020204" charset="-122"/>
              </a:rPr>
              <a:t>当前主流程是「智能体 + 技能 + 工具」三件套协作。以做一张科研流程图为例：</a:t>
            </a:r>
            <a:endParaRPr sz="1350" b="0" i="0">
              <a:solidFill>
                <a:srgbClr val="50616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161288" y="2377440"/>
            <a:ext cx="3310128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BACA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1288" y="2377440"/>
            <a:ext cx="3310128" cy="822960"/>
          </a:xfrm>
          <a:prstGeom prst="rect">
            <a:avLst/>
          </a:prstGeom>
          <a:solidFill>
            <a:srgbClr val="06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35608" y="2505456"/>
            <a:ext cx="28529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Agent</a:t>
            </a:r>
            <a:endParaRPr sz="2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D6ECF0"/>
                </a:solidFill>
                <a:latin typeface="微软雅黑" panose="020B0503020204020204" charset="-122"/>
                <a:ea typeface="微软雅黑" panose="020B0503020204020204" charset="-122"/>
              </a:rPr>
              <a:t>智能体</a:t>
            </a:r>
            <a:endParaRPr sz="1200" b="0" i="0">
              <a:solidFill>
                <a:srgbClr val="D6ECF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435608" y="3401568"/>
            <a:ext cx="2807208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0616D"/>
                </a:solidFill>
                <a:latin typeface="微软雅黑" panose="020B0503020204020204" charset="-122"/>
                <a:ea typeface="微软雅黑" panose="020B0503020204020204" charset="-122"/>
              </a:rPr>
              <a:t>Codex / Claude Code / Cursor —</a:t>
            </a:r>
            <a:endParaRPr sz="1250" b="0" i="0">
              <a:solidFill>
                <a:srgbClr val="50616D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0616D"/>
                </a:solidFill>
                <a:latin typeface="微软雅黑" panose="020B0503020204020204" charset="-122"/>
                <a:ea typeface="微软雅黑" panose="020B0503020204020204" charset="-122"/>
              </a:rPr>
              <a:t>读懂意图、调度技能与工具、产出文件。</a:t>
            </a:r>
            <a:endParaRPr sz="1250" b="0" i="0">
              <a:solidFill>
                <a:srgbClr val="50616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453128" y="329184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ACD76"/>
                </a:solidFill>
                <a:latin typeface="微软雅黑" panose="020B0503020204020204" charset="-122"/>
                <a:ea typeface="微软雅黑" panose="020B0503020204020204" charset="-122"/>
              </a:rPr>
              <a:t>＋</a:t>
            </a:r>
            <a:endParaRPr sz="2200" b="1" i="0">
              <a:solidFill>
                <a:srgbClr val="EACD7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782312" y="2377440"/>
            <a:ext cx="3310128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BACA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82312" y="2377440"/>
            <a:ext cx="3310128" cy="822960"/>
          </a:xfrm>
          <a:prstGeom prst="rect">
            <a:avLst/>
          </a:prstGeom>
          <a:solidFill>
            <a:srgbClr val="177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56632" y="2505456"/>
            <a:ext cx="28529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Skill</a:t>
            </a:r>
            <a:endParaRPr sz="2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D6ECF0"/>
                </a:solidFill>
                <a:latin typeface="微软雅黑" panose="020B0503020204020204" charset="-122"/>
                <a:ea typeface="微软雅黑" panose="020B0503020204020204" charset="-122"/>
              </a:rPr>
              <a:t>技能</a:t>
            </a:r>
            <a:endParaRPr sz="1200" b="0" i="0">
              <a:solidFill>
                <a:srgbClr val="D6ECF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056632" y="3401568"/>
            <a:ext cx="2807208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0616D"/>
                </a:solidFill>
                <a:latin typeface="微软雅黑" panose="020B0503020204020204" charset="-122"/>
                <a:ea typeface="微软雅黑" panose="020B0503020204020204" charset="-122"/>
              </a:rPr>
              <a:t>my-design-style 这类设计技能 —</a:t>
            </a:r>
            <a:endParaRPr sz="1250" b="0" i="0">
              <a:solidFill>
                <a:srgbClr val="50616D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0616D"/>
                </a:solidFill>
                <a:latin typeface="微软雅黑" panose="020B0503020204020204" charset="-122"/>
                <a:ea typeface="微软雅黑" panose="020B0503020204020204" charset="-122"/>
              </a:rPr>
              <a:t>注入风格契约、色卡、版式与质量门。</a:t>
            </a:r>
            <a:endParaRPr sz="1250" b="0" i="0">
              <a:solidFill>
                <a:srgbClr val="50616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074152" y="329184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ACD76"/>
                </a:solidFill>
                <a:latin typeface="微软雅黑" panose="020B0503020204020204" charset="-122"/>
                <a:ea typeface="微软雅黑" panose="020B0503020204020204" charset="-122"/>
              </a:rPr>
              <a:t>＋</a:t>
            </a:r>
            <a:endParaRPr sz="2200" b="1" i="0">
              <a:solidFill>
                <a:srgbClr val="EACD7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403336" y="2377440"/>
            <a:ext cx="3310128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BACA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03336" y="2377440"/>
            <a:ext cx="3310128" cy="822960"/>
          </a:xfrm>
          <a:prstGeom prst="rect">
            <a:avLst/>
          </a:prstGeom>
          <a:solidFill>
            <a:srgbClr val="4B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77656" y="2505456"/>
            <a:ext cx="28529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MCP</a:t>
            </a:r>
            <a:endParaRPr sz="2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D6ECF0"/>
                </a:solidFill>
                <a:latin typeface="微软雅黑" panose="020B0503020204020204" charset="-122"/>
                <a:ea typeface="微软雅黑" panose="020B0503020204020204" charset="-122"/>
              </a:rPr>
              <a:t>工具</a:t>
            </a:r>
            <a:endParaRPr sz="1200" b="0" i="0">
              <a:solidFill>
                <a:srgbClr val="D6ECF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677656" y="3401568"/>
            <a:ext cx="2807208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0616D"/>
                </a:solidFill>
                <a:latin typeface="微软雅黑" panose="020B0503020204020204" charset="-122"/>
                <a:ea typeface="微软雅黑" panose="020B0503020204020204" charset="-122"/>
              </a:rPr>
              <a:t>Figma / 浏览器 / 文件等外部能力 —</a:t>
            </a:r>
            <a:endParaRPr sz="1250" b="0" i="0">
              <a:solidFill>
                <a:srgbClr val="50616D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0616D"/>
                </a:solidFill>
                <a:latin typeface="微软雅黑" panose="020B0503020204020204" charset="-122"/>
                <a:ea typeface="微软雅黑" panose="020B0503020204020204" charset="-122"/>
              </a:rPr>
              <a:t>让产物落到真实可编辑的载体上。</a:t>
            </a:r>
            <a:endParaRPr sz="1250" b="0" i="0">
              <a:solidFill>
                <a:srgbClr val="50616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1161288" y="5029200"/>
            <a:ext cx="9902952" cy="868680"/>
          </a:xfrm>
          <a:prstGeom prst="rect">
            <a:avLst/>
          </a:prstGeom>
          <a:solidFill>
            <a:srgbClr val="D6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17320" y="5330952"/>
            <a:ext cx="256032" cy="256032"/>
          </a:xfrm>
          <a:prstGeom prst="ellipse">
            <a:avLst/>
          </a:prstGeom>
          <a:solidFill>
            <a:srgbClr val="9D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29740" y="5092573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61823"/>
                </a:solidFill>
                <a:latin typeface="微软雅黑" panose="020B0503020204020204" charset="-122"/>
                <a:ea typeface="微软雅黑" panose="020B0503020204020204" charset="-122"/>
              </a:rPr>
              <a:t>一句话：装好技能后，通常只需 </a:t>
            </a:r>
            <a:r>
              <a:rPr sz="1300" b="1" i="0">
                <a:solidFill>
                  <a:srgbClr val="065279"/>
                </a:solidFill>
                <a:latin typeface="楷体" panose="02010609060101010101" charset="-122"/>
                <a:ea typeface="楷体" panose="02010609060101010101" charset="-122"/>
              </a:rPr>
              <a:t>「$my-design-style 帮我做一份…」</a:t>
            </a:r>
            <a:r>
              <a:rPr sz="1300" b="0" i="0">
                <a:solidFill>
                  <a:srgbClr val="161823"/>
                </a:solidFill>
                <a:latin typeface="微软雅黑" panose="020B0503020204020204" charset="-122"/>
                <a:ea typeface="微软雅黑" panose="020B0503020204020204" charset="-122"/>
              </a:rPr>
              <a:t> 触发，智能体会自动调度其余环节。</a:t>
            </a:r>
            <a:endParaRPr sz="1300" b="0" i="0">
              <a:solidFill>
                <a:srgbClr val="16182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B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_textu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6928" y="603504"/>
            <a:ext cx="365760" cy="365760"/>
          </a:xfrm>
          <a:prstGeom prst="ellipse">
            <a:avLst/>
          </a:prstGeom>
          <a:solidFill>
            <a:srgbClr val="9D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615" y="621919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BF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选</a:t>
            </a:r>
            <a:endParaRPr sz="1500" b="1" i="0">
              <a:solidFill>
                <a:srgbClr val="FFFBF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43000" y="45720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161823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选型建议 · 智能体与大模型</a:t>
            </a:r>
            <a:endParaRPr sz="2700" b="1" i="0">
              <a:solidFill>
                <a:srgbClr val="161823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61288" y="1078992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77CB0"/>
                </a:solidFill>
                <a:latin typeface="微软雅黑" panose="020B0503020204020204" charset="-122"/>
                <a:ea typeface="微软雅黑" panose="020B0503020204020204" charset="-122"/>
              </a:rPr>
              <a:t>WHAT TO RUN — AS OF 2026</a:t>
            </a:r>
            <a:endParaRPr sz="1200" b="0" i="0">
              <a:solidFill>
                <a:srgbClr val="177CB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8" name="Connector 7"/>
          <p:cNvCxnSpPr/>
          <p:nvPr/>
        </p:nvCxnSpPr>
        <p:spPr>
          <a:xfrm>
            <a:off x="1161288" y="1481328"/>
            <a:ext cx="9875520" cy="0"/>
          </a:xfrm>
          <a:prstGeom prst="bentConnector3">
            <a:avLst/>
          </a:prstGeom>
          <a:ln w="12700">
            <a:solidFill>
              <a:srgbClr val="BACA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1161288" y="1783080"/>
            <a:ext cx="4846320" cy="4160520"/>
          </a:xfrm>
          <a:prstGeom prst="rect">
            <a:avLst/>
          </a:prstGeom>
          <a:solidFill>
            <a:srgbClr val="FFFFFF"/>
          </a:solidFill>
          <a:ln w="9525">
            <a:solidFill>
              <a:srgbClr val="BACA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61288" y="1783080"/>
            <a:ext cx="4846320" cy="713232"/>
          </a:xfrm>
          <a:prstGeom prst="rect">
            <a:avLst/>
          </a:prstGeom>
          <a:solidFill>
            <a:srgbClr val="06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17320" y="1883664"/>
            <a:ext cx="4389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智能体 Agent</a:t>
            </a:r>
            <a:endParaRPr sz="17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1417320" y="2743200"/>
            <a:ext cx="137160" cy="137160"/>
          </a:xfrm>
          <a:prstGeom prst="ellipse">
            <a:avLst/>
          </a:prstGeom>
          <a:solidFill>
            <a:srgbClr val="177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45920" y="2651760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61823"/>
                </a:solidFill>
                <a:latin typeface="微软雅黑" panose="020B0503020204020204" charset="-122"/>
                <a:ea typeface="微软雅黑" panose="020B0503020204020204" charset="-122"/>
              </a:rPr>
              <a:t>Claude Code</a:t>
            </a:r>
            <a:endParaRPr sz="1400" b="1" i="0">
              <a:solidFill>
                <a:srgbClr val="16182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45920" y="2971800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0616D"/>
                </a:solidFill>
                <a:latin typeface="微软雅黑" panose="020B0503020204020204" charset="-122"/>
                <a:ea typeface="微软雅黑" panose="020B0503020204020204" charset="-122"/>
              </a:rPr>
              <a:t>终端原生、技能与 MCP 生态成熟</a:t>
            </a:r>
            <a:endParaRPr sz="1150" b="0" i="0">
              <a:solidFill>
                <a:srgbClr val="50616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1417320" y="3703320"/>
            <a:ext cx="137160" cy="137160"/>
          </a:xfrm>
          <a:prstGeom prst="ellipse">
            <a:avLst/>
          </a:prstGeom>
          <a:solidFill>
            <a:srgbClr val="177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45920" y="3611880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61823"/>
                </a:solidFill>
                <a:latin typeface="微软雅黑" panose="020B0503020204020204" charset="-122"/>
                <a:ea typeface="微软雅黑" panose="020B0503020204020204" charset="-122"/>
              </a:rPr>
              <a:t>Codex</a:t>
            </a:r>
            <a:endParaRPr sz="1400" b="1" i="0">
              <a:solidFill>
                <a:srgbClr val="16182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45920" y="3931920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0616D"/>
                </a:solidFill>
                <a:latin typeface="微软雅黑" panose="020B0503020204020204" charset="-122"/>
                <a:ea typeface="微软雅黑" panose="020B0503020204020204" charset="-122"/>
              </a:rPr>
              <a:t>本仓库演示资源的产出工具</a:t>
            </a:r>
            <a:endParaRPr sz="1150" b="0" i="0">
              <a:solidFill>
                <a:srgbClr val="50616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1417320" y="4663440"/>
            <a:ext cx="137160" cy="137160"/>
          </a:xfrm>
          <a:prstGeom prst="ellipse">
            <a:avLst/>
          </a:prstGeom>
          <a:solidFill>
            <a:srgbClr val="177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45920" y="4572000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61823"/>
                </a:solidFill>
                <a:latin typeface="微软雅黑" panose="020B0503020204020204" charset="-122"/>
                <a:ea typeface="微软雅黑" panose="020B0503020204020204" charset="-122"/>
              </a:rPr>
              <a:t>Cursor</a:t>
            </a:r>
            <a:endParaRPr sz="1400" b="1" i="0">
              <a:solidFill>
                <a:srgbClr val="16182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645920" y="4892040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0616D"/>
                </a:solidFill>
                <a:latin typeface="微软雅黑" panose="020B0503020204020204" charset="-122"/>
                <a:ea typeface="微软雅黑" panose="020B0503020204020204" charset="-122"/>
              </a:rPr>
              <a:t>编辑器内交互，适合边写边看</a:t>
            </a:r>
            <a:endParaRPr sz="1150" b="0" i="0">
              <a:solidFill>
                <a:srgbClr val="50616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236208" y="1783080"/>
            <a:ext cx="4846320" cy="4160520"/>
          </a:xfrm>
          <a:prstGeom prst="rect">
            <a:avLst/>
          </a:prstGeom>
          <a:solidFill>
            <a:srgbClr val="FFFFFF"/>
          </a:solidFill>
          <a:ln w="9525">
            <a:solidFill>
              <a:srgbClr val="BACA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6208" y="1783080"/>
            <a:ext cx="4846320" cy="713232"/>
          </a:xfrm>
          <a:prstGeom prst="rect">
            <a:avLst/>
          </a:prstGeom>
          <a:solidFill>
            <a:srgbClr val="177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883664"/>
            <a:ext cx="4389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大模型 LLM · 推荐档位</a:t>
            </a:r>
            <a:endParaRPr sz="17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492240" y="2743200"/>
            <a:ext cx="2103120" cy="658368"/>
          </a:xfrm>
          <a:prstGeom prst="rect">
            <a:avLst/>
          </a:prstGeom>
          <a:solidFill>
            <a:srgbClr val="D6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2743200"/>
            <a:ext cx="2103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65279"/>
                </a:solidFill>
                <a:latin typeface="微软雅黑" panose="020B0503020204020204" charset="-122"/>
                <a:ea typeface="微软雅黑" panose="020B0503020204020204" charset="-122"/>
              </a:rPr>
              <a:t>GPT-5.5+</a:t>
            </a:r>
            <a:endParaRPr sz="1450" b="1" i="0">
              <a:solidFill>
                <a:srgbClr val="0652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8823959" y="2743200"/>
            <a:ext cx="2103120" cy="658368"/>
          </a:xfrm>
          <a:prstGeom prst="rect">
            <a:avLst/>
          </a:prstGeom>
          <a:solidFill>
            <a:srgbClr val="D6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3959" y="2743200"/>
            <a:ext cx="2103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65279"/>
                </a:solidFill>
                <a:latin typeface="微软雅黑" panose="020B0503020204020204" charset="-122"/>
                <a:ea typeface="微软雅黑" panose="020B0503020204020204" charset="-122"/>
              </a:rPr>
              <a:t>Claude 4.6+</a:t>
            </a:r>
            <a:endParaRPr sz="1450" b="1" i="0">
              <a:solidFill>
                <a:srgbClr val="0652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492240" y="3611880"/>
            <a:ext cx="2103120" cy="658368"/>
          </a:xfrm>
          <a:prstGeom prst="rect">
            <a:avLst/>
          </a:prstGeom>
          <a:solidFill>
            <a:srgbClr val="D6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3611880"/>
            <a:ext cx="2103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65279"/>
                </a:solidFill>
                <a:latin typeface="微软雅黑" panose="020B0503020204020204" charset="-122"/>
                <a:ea typeface="微软雅黑" panose="020B0503020204020204" charset="-122"/>
              </a:rPr>
              <a:t>Gemini</a:t>
            </a:r>
            <a:endParaRPr sz="1450" b="1" i="0">
              <a:solidFill>
                <a:srgbClr val="0652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8823959" y="3611880"/>
            <a:ext cx="2103120" cy="658368"/>
          </a:xfrm>
          <a:prstGeom prst="rect">
            <a:avLst/>
          </a:prstGeom>
          <a:solidFill>
            <a:srgbClr val="D6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23959" y="3611880"/>
            <a:ext cx="2103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65279"/>
                </a:solidFill>
                <a:latin typeface="微软雅黑" panose="020B0503020204020204" charset="-122"/>
                <a:ea typeface="微软雅黑" panose="020B0503020204020204" charset="-122"/>
              </a:rPr>
              <a:t>Qwen Max</a:t>
            </a:r>
            <a:endParaRPr sz="1450" b="1" i="0">
              <a:solidFill>
                <a:srgbClr val="0652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492240" y="5120640"/>
            <a:ext cx="4343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0616D"/>
                </a:solidFill>
                <a:latin typeface="微软雅黑" panose="020B0503020204020204" charset="-122"/>
                <a:ea typeface="微软雅黑" panose="020B0503020204020204" charset="-122"/>
              </a:rPr>
              <a:t>产物审美高度依赖模型档位；低于此档位，</a:t>
            </a:r>
            <a:endParaRPr sz="1100" b="0" i="0">
              <a:solidFill>
                <a:srgbClr val="50616D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0616D"/>
                </a:solidFill>
                <a:latin typeface="微软雅黑" panose="020B0503020204020204" charset="-122"/>
                <a:ea typeface="微软雅黑" panose="020B0503020204020204" charset="-122"/>
              </a:rPr>
              <a:t>成稿质量会明显下滑。</a:t>
            </a:r>
            <a:endParaRPr sz="1100" b="0" i="0">
              <a:solidFill>
                <a:srgbClr val="50616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B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_textu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6928" y="603504"/>
            <a:ext cx="365760" cy="365760"/>
          </a:xfrm>
          <a:prstGeom prst="ellipse">
            <a:avLst/>
          </a:prstGeom>
          <a:solidFill>
            <a:srgbClr val="9D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615" y="621919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BF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装</a:t>
            </a:r>
            <a:endParaRPr sz="1500" b="1" i="0">
              <a:solidFill>
                <a:srgbClr val="FFFBF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43000" y="45720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161823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安装与调用 · 三步上手</a:t>
            </a:r>
            <a:endParaRPr sz="2700" b="1" i="0">
              <a:solidFill>
                <a:srgbClr val="161823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61288" y="1078992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77CB0"/>
                </a:solidFill>
                <a:latin typeface="微软雅黑" panose="020B0503020204020204" charset="-122"/>
                <a:ea typeface="微软雅黑" panose="020B0503020204020204" charset="-122"/>
              </a:rPr>
              <a:t>INSTALL &amp; INVOKE</a:t>
            </a:r>
            <a:endParaRPr sz="1200" b="0" i="0">
              <a:solidFill>
                <a:srgbClr val="177CB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8" name="Connector 7"/>
          <p:cNvCxnSpPr/>
          <p:nvPr/>
        </p:nvCxnSpPr>
        <p:spPr>
          <a:xfrm>
            <a:off x="1161288" y="1481328"/>
            <a:ext cx="9875520" cy="0"/>
          </a:xfrm>
          <a:prstGeom prst="bentConnector3">
            <a:avLst/>
          </a:prstGeom>
          <a:ln w="12700">
            <a:solidFill>
              <a:srgbClr val="BACA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1161288" y="1874519"/>
            <a:ext cx="990295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BACA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61288" y="1874519"/>
            <a:ext cx="868680" cy="1188720"/>
          </a:xfrm>
          <a:prstGeom prst="rect">
            <a:avLst/>
          </a:prstGeom>
          <a:solidFill>
            <a:srgbClr val="06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1288" y="1874519"/>
            <a:ext cx="86868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1</a:t>
            </a:r>
            <a:endParaRPr sz="3000" b="1" i="0">
              <a:solidFill>
                <a:srgbClr val="FFFFFF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240280" y="2039112"/>
            <a:ext cx="8595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1" i="0">
                <a:solidFill>
                  <a:srgbClr val="161823"/>
                </a:solidFill>
                <a:latin typeface="微软雅黑" panose="020B0503020204020204" charset="-122"/>
                <a:ea typeface="微软雅黑" panose="020B0503020204020204" charset="-122"/>
              </a:rPr>
              <a:t>拿到技能</a:t>
            </a:r>
            <a:endParaRPr sz="1650" b="1" i="0">
              <a:solidFill>
                <a:srgbClr val="16182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50616D"/>
                </a:solidFill>
                <a:latin typeface="微软雅黑" panose="020B0503020204020204" charset="-122"/>
                <a:ea typeface="微软雅黑" panose="020B0503020204020204" charset="-122"/>
              </a:rPr>
              <a:t>把 skill 文件夹放到本地，或给智能体一个可下载链接，让它替你安装到环境的 skills 目录。</a:t>
            </a:r>
            <a:endParaRPr sz="1250" b="0" i="0">
              <a:solidFill>
                <a:srgbClr val="50616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161288" y="3200400"/>
            <a:ext cx="990295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BACA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61288" y="3200400"/>
            <a:ext cx="868680" cy="1188720"/>
          </a:xfrm>
          <a:prstGeom prst="rect">
            <a:avLst/>
          </a:prstGeom>
          <a:solidFill>
            <a:srgbClr val="06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61288" y="3200400"/>
            <a:ext cx="86868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2</a:t>
            </a:r>
            <a:endParaRPr sz="3000" b="1" i="0">
              <a:solidFill>
                <a:srgbClr val="FFFFFF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240280" y="3364992"/>
            <a:ext cx="8595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1" i="0">
                <a:solidFill>
                  <a:srgbClr val="161823"/>
                </a:solidFill>
                <a:latin typeface="微软雅黑" panose="020B0503020204020204" charset="-122"/>
                <a:ea typeface="微软雅黑" panose="020B0503020204020204" charset="-122"/>
              </a:rPr>
              <a:t>确认就位</a:t>
            </a:r>
            <a:endParaRPr sz="1650" b="1" i="0">
              <a:solidFill>
                <a:srgbClr val="16182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50616D"/>
                </a:solidFill>
                <a:latin typeface="微软雅黑" panose="020B0503020204020204" charset="-122"/>
                <a:ea typeface="微软雅黑" panose="020B0503020204020204" charset="-122"/>
              </a:rPr>
              <a:t>智能体读取 SKILL.md 与 references，识别可用风格；本篇即用 chinese_traditional_color_style。</a:t>
            </a:r>
            <a:endParaRPr sz="1250" b="0" i="0">
              <a:solidFill>
                <a:srgbClr val="50616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1161288" y="4526280"/>
            <a:ext cx="990295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BACA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61288" y="4526280"/>
            <a:ext cx="868680" cy="1188720"/>
          </a:xfrm>
          <a:prstGeom prst="rect">
            <a:avLst/>
          </a:prstGeom>
          <a:solidFill>
            <a:srgbClr val="06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1288" y="4526280"/>
            <a:ext cx="86868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3</a:t>
            </a:r>
            <a:endParaRPr sz="3000" b="1" i="0">
              <a:solidFill>
                <a:srgbClr val="FFFFFF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240280" y="4690872"/>
            <a:ext cx="8595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1" i="0">
                <a:solidFill>
                  <a:srgbClr val="161823"/>
                </a:solidFill>
                <a:latin typeface="微软雅黑" panose="020B0503020204020204" charset="-122"/>
                <a:ea typeface="微软雅黑" panose="020B0503020204020204" charset="-122"/>
              </a:rPr>
              <a:t>精确触发</a:t>
            </a:r>
            <a:endParaRPr sz="1650" b="1" i="0">
              <a:solidFill>
                <a:srgbClr val="16182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50616D"/>
                </a:solidFill>
                <a:latin typeface="微软雅黑" panose="020B0503020204020204" charset="-122"/>
                <a:ea typeface="微软雅黑" panose="020B0503020204020204" charset="-122"/>
              </a:rPr>
              <a:t>用「$技能名」点名调用最精确。多数时候智能体也会按任务自动调用，点名只是更稳。</a:t>
            </a:r>
            <a:endParaRPr sz="1250" b="0" i="0">
              <a:solidFill>
                <a:srgbClr val="50616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161288" y="5897880"/>
            <a:ext cx="9902952" cy="566928"/>
          </a:xfrm>
          <a:prstGeom prst="rect">
            <a:avLst/>
          </a:prstGeom>
          <a:solidFill>
            <a:srgbClr val="16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0" y="5897880"/>
            <a:ext cx="9601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D6ECF0"/>
                </a:solidFill>
                <a:latin typeface="楷体" panose="02010609060101010101" charset="-122"/>
                <a:ea typeface="楷体" panose="02010609060101010101" charset="-122"/>
              </a:rPr>
              <a:t>›  $my-design-style  请用中国传统色风格，做一份介绍本工作流的 PPT</a:t>
            </a:r>
            <a:endParaRPr sz="1300" b="0" i="0">
              <a:solidFill>
                <a:srgbClr val="D6ECF0"/>
              </a:solidFill>
              <a:latin typeface="楷体" panose="02010609060101010101" charset="-122"/>
              <a:ea typeface="楷体" panose="02010609060101010101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B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_textu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6928" y="603504"/>
            <a:ext cx="365760" cy="365760"/>
          </a:xfrm>
          <a:prstGeom prst="ellipse">
            <a:avLst/>
          </a:prstGeom>
          <a:solidFill>
            <a:srgbClr val="9D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615" y="621919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BF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产</a:t>
            </a:r>
            <a:endParaRPr sz="1500" b="1" i="0">
              <a:solidFill>
                <a:srgbClr val="FFFBF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43000" y="45720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161823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产物与格式 · 要「可编辑」</a:t>
            </a:r>
            <a:endParaRPr sz="2700" b="1" i="0">
              <a:solidFill>
                <a:srgbClr val="161823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61288" y="1078992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77CB0"/>
                </a:solidFill>
                <a:latin typeface="微软雅黑" panose="020B0503020204020204" charset="-122"/>
                <a:ea typeface="微软雅黑" panose="020B0503020204020204" charset="-122"/>
              </a:rPr>
              <a:t>EDITABLE DELIVERABLES</a:t>
            </a:r>
            <a:endParaRPr sz="1200" b="0" i="0">
              <a:solidFill>
                <a:srgbClr val="177CB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8" name="Connector 7"/>
          <p:cNvCxnSpPr/>
          <p:nvPr/>
        </p:nvCxnSpPr>
        <p:spPr>
          <a:xfrm>
            <a:off x="1161288" y="1481328"/>
            <a:ext cx="9875520" cy="0"/>
          </a:xfrm>
          <a:prstGeom prst="bentConnector3">
            <a:avLst/>
          </a:prstGeom>
          <a:ln w="12700">
            <a:solidFill>
              <a:srgbClr val="BACA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61288" y="1627632"/>
            <a:ext cx="9966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50616D"/>
                </a:solidFill>
                <a:latin typeface="微软雅黑" panose="020B0503020204020204" charset="-122"/>
                <a:ea typeface="微软雅黑" panose="020B0503020204020204" charset="-122"/>
              </a:rPr>
              <a:t>要求技能产出可编辑格式，方便你二次核实与微调。科研场景尤其推荐 SVG 与 LaTeX→PDF。</a:t>
            </a:r>
            <a:endParaRPr sz="1350" b="0" i="0">
              <a:solidFill>
                <a:srgbClr val="50616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161288" y="2331720"/>
            <a:ext cx="32004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BACA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1288" y="2331720"/>
            <a:ext cx="3200400" cy="868680"/>
          </a:xfrm>
          <a:prstGeom prst="rect">
            <a:avLst/>
          </a:prstGeom>
          <a:solidFill>
            <a:srgbClr val="177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61288" y="2478024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SVG</a:t>
            </a:r>
            <a:endParaRPr sz="2600" b="1" i="0">
              <a:solidFill>
                <a:srgbClr val="FFFFFF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435608" y="3383279"/>
            <a:ext cx="2697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0616D"/>
                </a:solidFill>
                <a:latin typeface="微软雅黑" panose="020B0503020204020204" charset="-122"/>
                <a:ea typeface="微软雅黑" panose="020B0503020204020204" charset="-122"/>
              </a:rPr>
              <a:t>矢量图、流程图、科研配图，可无损缩放与逐元素编辑</a:t>
            </a:r>
            <a:endParaRPr sz="1250" b="0" i="0">
              <a:solidFill>
                <a:srgbClr val="50616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663440" y="2331720"/>
            <a:ext cx="32004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BACA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63440" y="2331720"/>
            <a:ext cx="3200400" cy="868680"/>
          </a:xfrm>
          <a:prstGeom prst="rect">
            <a:avLst/>
          </a:prstGeom>
          <a:solidFill>
            <a:srgbClr val="06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2478024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PPT</a:t>
            </a:r>
            <a:endParaRPr sz="2600" b="1" i="0">
              <a:solidFill>
                <a:srgbClr val="FFFFFF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937759" y="3383279"/>
            <a:ext cx="2697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0616D"/>
                </a:solidFill>
                <a:latin typeface="微软雅黑" panose="020B0503020204020204" charset="-122"/>
                <a:ea typeface="微软雅黑" panose="020B0503020204020204" charset="-122"/>
              </a:rPr>
              <a:t>汇报、答辩、模板，形状与文字均可在 PowerPoint 内改</a:t>
            </a:r>
            <a:endParaRPr sz="1250" b="0" i="0">
              <a:solidFill>
                <a:srgbClr val="50616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8165592" y="2331720"/>
            <a:ext cx="32004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BACA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65592" y="2331720"/>
            <a:ext cx="3200400" cy="868680"/>
          </a:xfrm>
          <a:prstGeom prst="rect">
            <a:avLst/>
          </a:prstGeom>
          <a:solidFill>
            <a:srgbClr val="4B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5592" y="2478024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PDF</a:t>
            </a:r>
            <a:endParaRPr sz="2600" b="1" i="0">
              <a:solidFill>
                <a:srgbClr val="FFFFFF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439912" y="3383279"/>
            <a:ext cx="2697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0616D"/>
                </a:solidFill>
                <a:latin typeface="微软雅黑" panose="020B0503020204020204" charset="-122"/>
                <a:ea typeface="微软雅黑" panose="020B0503020204020204" charset="-122"/>
              </a:rPr>
              <a:t>LaTeX 生成的论文级排版，公式与版式稳定</a:t>
            </a:r>
            <a:endParaRPr sz="1250" b="0" i="0">
              <a:solidFill>
                <a:srgbClr val="50616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1161288" y="4983480"/>
            <a:ext cx="9902952" cy="914400"/>
          </a:xfrm>
          <a:prstGeom prst="rect">
            <a:avLst/>
          </a:prstGeom>
          <a:solidFill>
            <a:srgbClr val="D6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417320" y="5285232"/>
            <a:ext cx="256032" cy="256032"/>
          </a:xfrm>
          <a:prstGeom prst="ellipse">
            <a:avLst/>
          </a:prstGeom>
          <a:solidFill>
            <a:srgbClr val="EAC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28800" y="5029200"/>
            <a:ext cx="9144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61823"/>
                </a:solidFill>
                <a:latin typeface="微软雅黑" panose="020B0503020204020204" charset="-122"/>
                <a:ea typeface="微软雅黑" panose="020B0503020204020204" charset="-122"/>
              </a:rPr>
              <a:t>成稿常有细微偏移或重叠，需要你自行核实修改。下一页说明：</a:t>
            </a:r>
            <a:r>
              <a:rPr sz="1300" b="1" i="0">
                <a:solidFill>
                  <a:srgbClr val="065279"/>
                </a:solidFill>
                <a:latin typeface="微软雅黑" panose="020B0503020204020204" charset="-122"/>
                <a:ea typeface="微软雅黑" panose="020B0503020204020204" charset="-122"/>
              </a:rPr>
              <a:t>哪些该自己动手。</a:t>
            </a:r>
            <a:endParaRPr sz="1300" b="1" i="0">
              <a:solidFill>
                <a:srgbClr val="0652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B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_textu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6928" y="603504"/>
            <a:ext cx="365760" cy="365760"/>
          </a:xfrm>
          <a:prstGeom prst="ellipse">
            <a:avLst/>
          </a:prstGeom>
          <a:solidFill>
            <a:srgbClr val="9D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615" y="603504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BF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界</a:t>
            </a:r>
            <a:endParaRPr sz="1500" b="1" i="0">
              <a:solidFill>
                <a:srgbClr val="FFFBF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43000" y="45720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161823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微调的边界 · 各司其职</a:t>
            </a:r>
            <a:endParaRPr sz="2700" b="1" i="0">
              <a:solidFill>
                <a:srgbClr val="161823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61288" y="1078992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77CB0"/>
                </a:solidFill>
                <a:latin typeface="微软雅黑" panose="020B0503020204020204" charset="-122"/>
                <a:ea typeface="微软雅黑" panose="020B0503020204020204" charset="-122"/>
              </a:rPr>
              <a:t>WHERE AI HELPS, WHERE YOU DO</a:t>
            </a:r>
            <a:endParaRPr sz="1200" b="0" i="0">
              <a:solidFill>
                <a:srgbClr val="177CB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8" name="Connector 7"/>
          <p:cNvCxnSpPr/>
          <p:nvPr/>
        </p:nvCxnSpPr>
        <p:spPr>
          <a:xfrm>
            <a:off x="1161288" y="1481328"/>
            <a:ext cx="9875520" cy="0"/>
          </a:xfrm>
          <a:prstGeom prst="bentConnector3">
            <a:avLst/>
          </a:prstGeom>
          <a:ln w="12700">
            <a:solidFill>
              <a:srgbClr val="BACA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1161288" y="1828800"/>
            <a:ext cx="48463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BACA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61288" y="1828800"/>
            <a:ext cx="4846320" cy="731520"/>
          </a:xfrm>
          <a:prstGeom prst="rect">
            <a:avLst/>
          </a:prstGeom>
          <a:solidFill>
            <a:srgbClr val="177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17320" y="1938528"/>
            <a:ext cx="4389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交给 AI</a:t>
            </a:r>
            <a:endParaRPr sz="17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1463040" y="2843784"/>
            <a:ext cx="128016" cy="128016"/>
          </a:xfrm>
          <a:prstGeom prst="ellipse">
            <a:avLst/>
          </a:prstGeom>
          <a:solidFill>
            <a:srgbClr val="177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00784" y="2752344"/>
            <a:ext cx="4114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61823"/>
                </a:solidFill>
                <a:latin typeface="微软雅黑" panose="020B0503020204020204" charset="-122"/>
                <a:ea typeface="微软雅黑" panose="020B0503020204020204" charset="-122"/>
              </a:rPr>
              <a:t>结构、配色、版式与内容草稿</a:t>
            </a:r>
            <a:endParaRPr sz="1300" b="0" i="0">
              <a:solidFill>
                <a:srgbClr val="16182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1463040" y="3593591"/>
            <a:ext cx="128016" cy="128016"/>
          </a:xfrm>
          <a:prstGeom prst="ellipse">
            <a:avLst/>
          </a:prstGeom>
          <a:solidFill>
            <a:srgbClr val="177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00784" y="3502151"/>
            <a:ext cx="4114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61823"/>
                </a:solidFill>
                <a:latin typeface="微软雅黑" panose="020B0503020204020204" charset="-122"/>
                <a:ea typeface="微软雅黑" panose="020B0503020204020204" charset="-122"/>
              </a:rPr>
              <a:t>生成可编辑的 SVG / PPT / PDF</a:t>
            </a:r>
            <a:endParaRPr sz="1300" b="0" i="0">
              <a:solidFill>
                <a:srgbClr val="16182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1463040" y="4343399"/>
            <a:ext cx="128016" cy="128016"/>
          </a:xfrm>
          <a:prstGeom prst="ellipse">
            <a:avLst/>
          </a:prstGeom>
          <a:solidFill>
            <a:srgbClr val="177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00784" y="4251959"/>
            <a:ext cx="4114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61823"/>
                </a:solidFill>
                <a:latin typeface="微软雅黑" panose="020B0503020204020204" charset="-122"/>
                <a:ea typeface="微软雅黑" panose="020B0503020204020204" charset="-122"/>
              </a:rPr>
              <a:t>套用风格契约与色卡规范</a:t>
            </a:r>
            <a:endParaRPr sz="1300" b="0" i="0">
              <a:solidFill>
                <a:srgbClr val="16182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1463040" y="5093207"/>
            <a:ext cx="128016" cy="128016"/>
          </a:xfrm>
          <a:prstGeom prst="ellipse">
            <a:avLst/>
          </a:prstGeom>
          <a:solidFill>
            <a:srgbClr val="177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00784" y="5001768"/>
            <a:ext cx="4114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61823"/>
                </a:solidFill>
                <a:latin typeface="微软雅黑" panose="020B0503020204020204" charset="-122"/>
                <a:ea typeface="微软雅黑" panose="020B0503020204020204" charset="-122"/>
              </a:rPr>
              <a:t>批量铺排页面节奏与图表</a:t>
            </a:r>
            <a:endParaRPr sz="1300" b="0" i="0">
              <a:solidFill>
                <a:srgbClr val="16182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236208" y="1828800"/>
            <a:ext cx="48463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BACA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6208" y="1828800"/>
            <a:ext cx="4846320" cy="731520"/>
          </a:xfrm>
          <a:prstGeom prst="rect">
            <a:avLst/>
          </a:prstGeom>
          <a:solidFill>
            <a:srgbClr val="9D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1938528"/>
            <a:ext cx="4389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自己动手</a:t>
            </a:r>
            <a:endParaRPr sz="17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6537960" y="2843784"/>
            <a:ext cx="128016" cy="128016"/>
          </a:xfrm>
          <a:prstGeom prst="ellipse">
            <a:avLst/>
          </a:prstGeom>
          <a:solidFill>
            <a:srgbClr val="9D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75704" y="2752344"/>
            <a:ext cx="4114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61823"/>
                </a:solidFill>
                <a:latin typeface="微软雅黑" panose="020B0503020204020204" charset="-122"/>
                <a:ea typeface="微软雅黑" panose="020B0503020204020204" charset="-122"/>
              </a:rPr>
              <a:t>像素级的位置与重叠微调</a:t>
            </a:r>
            <a:endParaRPr sz="1300" b="0" i="0">
              <a:solidFill>
                <a:srgbClr val="16182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Oval 24"/>
          <p:cNvSpPr/>
          <p:nvPr/>
        </p:nvSpPr>
        <p:spPr>
          <a:xfrm>
            <a:off x="6537960" y="3593591"/>
            <a:ext cx="128016" cy="128016"/>
          </a:xfrm>
          <a:prstGeom prst="ellipse">
            <a:avLst/>
          </a:prstGeom>
          <a:solidFill>
            <a:srgbClr val="9D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75704" y="3502151"/>
            <a:ext cx="4114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61823"/>
                </a:solidFill>
                <a:latin typeface="微软雅黑" panose="020B0503020204020204" charset="-122"/>
                <a:ea typeface="微软雅黑" panose="020B0503020204020204" charset="-122"/>
              </a:rPr>
              <a:t>字距、行高的最后一两步对齐</a:t>
            </a:r>
            <a:endParaRPr sz="1300" b="0" i="0">
              <a:solidFill>
                <a:srgbClr val="16182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Oval 26"/>
          <p:cNvSpPr/>
          <p:nvPr/>
        </p:nvSpPr>
        <p:spPr>
          <a:xfrm>
            <a:off x="6537960" y="4343399"/>
            <a:ext cx="128016" cy="128016"/>
          </a:xfrm>
          <a:prstGeom prst="ellipse">
            <a:avLst/>
          </a:prstGeom>
          <a:solidFill>
            <a:srgbClr val="9D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75704" y="4251959"/>
            <a:ext cx="4114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61823"/>
                </a:solidFill>
                <a:latin typeface="微软雅黑" panose="020B0503020204020204" charset="-122"/>
                <a:ea typeface="微软雅黑" panose="020B0503020204020204" charset="-122"/>
              </a:rPr>
              <a:t>事实、数据与措辞的终审</a:t>
            </a:r>
            <a:endParaRPr sz="1300" b="0" i="0">
              <a:solidFill>
                <a:srgbClr val="16182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Oval 28"/>
          <p:cNvSpPr/>
          <p:nvPr/>
        </p:nvSpPr>
        <p:spPr>
          <a:xfrm>
            <a:off x="6537960" y="5093207"/>
            <a:ext cx="128016" cy="128016"/>
          </a:xfrm>
          <a:prstGeom prst="ellipse">
            <a:avLst/>
          </a:prstGeom>
          <a:solidFill>
            <a:srgbClr val="9D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75704" y="5001768"/>
            <a:ext cx="4114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61823"/>
                </a:solidFill>
                <a:latin typeface="微软雅黑" panose="020B0503020204020204" charset="-122"/>
                <a:ea typeface="微软雅黑" panose="020B0503020204020204" charset="-122"/>
              </a:rPr>
              <a:t>导出后在原生软件里的精修</a:t>
            </a:r>
            <a:endParaRPr sz="1300" b="0" i="0">
              <a:solidFill>
                <a:srgbClr val="16182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161288" y="6053328"/>
            <a:ext cx="9902952" cy="512064"/>
          </a:xfrm>
          <a:prstGeom prst="rect">
            <a:avLst/>
          </a:prstGeom>
          <a:solidFill>
            <a:srgbClr val="16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61288" y="6053328"/>
            <a:ext cx="9902952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D6ECF0"/>
                </a:solidFill>
                <a:latin typeface="楷体" panose="02010609060101010101" charset="-122"/>
                <a:ea typeface="楷体" panose="02010609060101010101" charset="-122"/>
              </a:rPr>
              <a:t>微调不要依赖 AI——目前它不擅长，反而拖慢效率。把精修留给自己，把铺量交给智能体。</a:t>
            </a:r>
            <a:endParaRPr sz="1250" b="0" i="0">
              <a:solidFill>
                <a:srgbClr val="D6ECF0"/>
              </a:solidFill>
              <a:latin typeface="楷体" panose="02010609060101010101" charset="-122"/>
              <a:ea typeface="楷体" panose="02010609060101010101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5279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188720" y="2331720"/>
            <a:ext cx="2743200" cy="0"/>
          </a:xfrm>
          <a:prstGeom prst="bentConnector3">
            <a:avLst/>
          </a:prstGeom>
          <a:ln w="25400">
            <a:solidFill>
              <a:srgbClr val="EACD7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1188720" y="2468880"/>
            <a:ext cx="10058400" cy="190690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BF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装上技能，描述意图，</a:t>
            </a:r>
            <a:endParaRPr sz="3000" b="1" i="0">
              <a:solidFill>
                <a:srgbClr val="FFFBF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BF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把初稿交给智能体，把精修留给自己。</a:t>
            </a:r>
            <a:endParaRPr sz="3000" b="1" i="0">
              <a:solidFill>
                <a:srgbClr val="FFFBF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endParaRPr lang="en-US" sz="3000" b="1" i="0">
              <a:solidFill>
                <a:srgbClr val="FFFBF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207008" y="4434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A1AFC9"/>
                </a:solidFill>
                <a:latin typeface="微软雅黑" panose="020B0503020204020204" charset="-122"/>
                <a:ea typeface="微软雅黑" panose="020B0503020204020204" charset="-122"/>
              </a:rPr>
              <a:t>Install the skill · describe the intent · let the agent draft, you refine.</a:t>
            </a:r>
            <a:endParaRPr sz="1300" b="0" i="0">
              <a:solidFill>
                <a:srgbClr val="A1AFC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Oval 4"/>
          <p:cNvSpPr/>
          <p:nvPr/>
        </p:nvSpPr>
        <p:spPr>
          <a:xfrm>
            <a:off x="1207008" y="5212080"/>
            <a:ext cx="457200" cy="457200"/>
          </a:xfrm>
          <a:prstGeom prst="ellipse">
            <a:avLst/>
          </a:prstGeom>
          <a:solidFill>
            <a:srgbClr val="9D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5276088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BF0"/>
                </a:solidFill>
                <a:latin typeface="楷体" panose="02010609060101010101" charset="-122"/>
                <a:ea typeface="楷体" panose="02010609060101010101" charset="-122"/>
              </a:rPr>
              <a:t>匠</a:t>
            </a:r>
            <a:endParaRPr sz="1700" b="1" i="0">
              <a:solidFill>
                <a:srgbClr val="FFFBF0"/>
              </a:solidFill>
              <a:latin typeface="楷体" panose="02010609060101010101" charset="-122"/>
              <a:ea typeface="楷体" panose="02010609060101010101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828800" y="5321173"/>
            <a:ext cx="9144000" cy="27559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200" b="1">
                <a:solidFill>
                  <a:srgbClr val="FFFBF0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Created by Claude opus 4.8, </a:t>
            </a:r>
            <a:r>
              <a:rPr sz="1200" b="0" i="0">
                <a:solidFill>
                  <a:srgbClr val="D6ECF0"/>
                </a:solidFill>
                <a:latin typeface="微软雅黑" panose="020B0503020204020204" charset="-122"/>
                <a:ea typeface="微软雅黑" panose="020B0503020204020204" charset="-122"/>
              </a:rPr>
              <a:t>my-design-style · chinese_traditional_color_style · 靛青学者 × 墨纸</a:t>
            </a:r>
            <a:endParaRPr sz="1200" b="0" i="0">
              <a:solidFill>
                <a:srgbClr val="D6ECF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1886</Words>
  <Application>WPS 演示</Application>
  <PresentationFormat>On-screen Show (4:3)</PresentationFormat>
  <Paragraphs>236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8" baseType="lpstr">
      <vt:lpstr>Arial</vt:lpstr>
      <vt:lpstr>宋体</vt:lpstr>
      <vt:lpstr>Wingdings</vt:lpstr>
      <vt:lpstr>Arial</vt:lpstr>
      <vt:lpstr>楷体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潘梓健</cp:lastModifiedBy>
  <cp:revision>4</cp:revision>
  <dcterms:created xsi:type="dcterms:W3CDTF">2013-01-27T09:14:00Z</dcterms:created>
  <dcterms:modified xsi:type="dcterms:W3CDTF">2026-06-03T18:45:48Z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4C0AE973CBB44C0D885FE28C4E28CDCB_12</vt:lpwstr>
  </property>
  <property fmtid="{D5CDD505-2E9C-101B-9397-08002B2CF9AE}" pid="3" name="KSOProductBuildVer">
    <vt:lpwstr>2052-12.1.0.26895</vt:lpwstr>
  </property>
</Properties>
</file>