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70a963d01c00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56032"/>
            <a:ext cx="11430000" cy="6327648"/>
          </a:xfrm>
          <a:prstGeom prst="rect">
            <a:avLst/>
          </a:prstGeom>
        </p:spPr>
      </p:pic>
      <p:pic>
        <p:nvPicPr>
          <p:cNvPr id="3" name="Picture 2" descr="258ed7d0949d54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285232"/>
            <a:ext cx="4754880" cy="1143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ce-paper-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731520"/>
            <a:ext cx="530352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065279"/>
                </a:solidFill>
                <a:latin typeface="Consolas"/>
              </a:rPr>
              <a:t>my-design-style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1298448"/>
            <a:ext cx="6949440" cy="9692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95000"/>
              </a:lnSpc>
            </a:pPr>
            <a:r>
              <a:rPr sz="2800" b="1">
                <a:solidFill>
                  <a:srgbClr val="161823"/>
                </a:solidFill>
                <a:latin typeface="SimSun"/>
              </a:rPr>
              <a:t>my-design-style 框架导览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487168"/>
            <a:ext cx="626364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0">
                <a:solidFill>
                  <a:srgbClr val="50616D"/>
                </a:solidFill>
                <a:latin typeface="Microsoft YaHei"/>
              </a:rPr>
              <a:t>风格 = 结构 + 行为；同一套 Workflow，可替换的具体风格。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30752"/>
            <a:ext cx="932688" cy="301752"/>
          </a:xfrm>
          <a:prstGeom prst="round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767328"/>
            <a:ext cx="786384" cy="26517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760" b="1">
                <a:solidFill>
                  <a:srgbClr val="FFFFFF"/>
                </a:solidFill>
                <a:latin typeface="Microsoft YaHei"/>
              </a:rPr>
              <a:t>主风格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93392" y="3730752"/>
            <a:ext cx="932688" cy="301752"/>
          </a:xfrm>
          <a:prstGeom prst="roundRect">
            <a:avLst/>
          </a:prstGeom>
          <a:solidFill>
            <a:srgbClr val="789262"/>
          </a:solidFill>
          <a:ln w="6985">
            <a:solidFill>
              <a:srgbClr val="78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66544" y="3767328"/>
            <a:ext cx="786384" cy="26517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760" b="1">
                <a:solidFill>
                  <a:srgbClr val="FFFFFF"/>
                </a:solidFill>
                <a:latin typeface="Microsoft YaHei"/>
              </a:rPr>
              <a:t>传统色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63824" y="3730752"/>
            <a:ext cx="932688" cy="301752"/>
          </a:xfrm>
          <a:prstGeom prst="roundRect">
            <a:avLst/>
          </a:prstGeom>
          <a:solidFill>
            <a:srgbClr val="75878A"/>
          </a:solidFill>
          <a:ln w="6985">
            <a:solidFill>
              <a:srgbClr val="75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3767328"/>
            <a:ext cx="786384" cy="26517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760" b="1">
                <a:solidFill>
                  <a:srgbClr val="FFFFFF"/>
                </a:solidFill>
                <a:latin typeface="Microsoft YaHei"/>
              </a:rPr>
              <a:t>契约化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34256" y="3730752"/>
            <a:ext cx="932688" cy="301752"/>
          </a:xfrm>
          <a:prstGeom prst="roundRect">
            <a:avLst/>
          </a:prstGeom>
          <a:solidFill>
            <a:srgbClr val="9D2933"/>
          </a:solidFill>
          <a:ln w="6985">
            <a:solidFill>
              <a:srgbClr val="9D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8" y="3767328"/>
            <a:ext cx="786384" cy="26517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760" b="1">
                <a:solidFill>
                  <a:srgbClr val="FFFFFF"/>
                </a:solidFill>
                <a:latin typeface="Microsoft YaHei"/>
              </a:rPr>
              <a:t>可验证</a:t>
            </a:r>
          </a:p>
        </p:txBody>
      </p:sp>
      <p:pic>
        <p:nvPicPr>
          <p:cNvPr id="18" name="Picture 17" descr="1fc7828c5a7b759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7" y="658368"/>
            <a:ext cx="3703320" cy="5440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阅读路径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从请求规范化到交付自检。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572768"/>
            <a:ext cx="384048" cy="38404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36776"/>
            <a:ext cx="384048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35607" y="1545336"/>
            <a:ext cx="36576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161823"/>
                </a:solidFill>
                <a:latin typeface="Microsoft YaHei"/>
              </a:rPr>
              <a:t>Skill 做什么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80467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0616D"/>
                </a:solidFill>
                <a:latin typeface="Microsoft YaHei"/>
              </a:rPr>
              <a:t>DesignRequest、registry、不变管线。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350008"/>
            <a:ext cx="384048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2258568"/>
            <a:ext cx="36576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161823"/>
                </a:solidFill>
                <a:latin typeface="Microsoft YaHei"/>
              </a:rPr>
              <a:t>执行协议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2532888"/>
            <a:ext cx="80467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0616D"/>
                </a:solidFill>
                <a:latin typeface="Microsoft YaHei"/>
              </a:rPr>
              <a:t>解析、引用加载、StyleLock、Visual Rhythm。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999232"/>
            <a:ext cx="384048" cy="38404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063240"/>
            <a:ext cx="384048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5607" y="2971800"/>
            <a:ext cx="36576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161823"/>
                </a:solidFill>
                <a:latin typeface="Microsoft YaHei"/>
              </a:rPr>
              <a:t>三种风格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3246120"/>
            <a:ext cx="80467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0616D"/>
                </a:solidFill>
                <a:latin typeface="Microsoft YaHei"/>
              </a:rPr>
              <a:t>Intent 与创作空间对比，非禁令清单。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3712463"/>
            <a:ext cx="384048" cy="384048"/>
          </a:xfrm>
          <a:prstGeom prst="rect">
            <a:avLst/>
          </a:prstGeom>
          <a:solidFill>
            <a:srgbClr val="75878A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776472"/>
            <a:ext cx="384048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919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607" y="3685031"/>
            <a:ext cx="36576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>
                <a:solidFill>
                  <a:srgbClr val="161823"/>
                </a:solidFill>
                <a:latin typeface="Microsoft YaHei"/>
              </a:rPr>
              <a:t>落地提示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5607" y="3959352"/>
            <a:ext cx="80467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>
                <a:solidFill>
                  <a:srgbClr val="50616D"/>
                </a:solidFill>
                <a:latin typeface="Microsoft YaHei"/>
              </a:rPr>
              <a:t>正向请求写法、modifier、质量门。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02 / 28</a:t>
            </a:r>
          </a:p>
        </p:txBody>
      </p:sp>
      <p:pic>
        <p:nvPicPr>
          <p:cNvPr id="29" name="Picture 28" descr="3a4f5edacd5a0d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800600"/>
            <a:ext cx="1737360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2674622a48c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411480"/>
            <a:ext cx="3611880" cy="580644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ice-paper-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950976"/>
            <a:ext cx="1600200" cy="7498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065279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04288"/>
            <a:ext cx="8138160" cy="6217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61823"/>
                </a:solidFill>
                <a:latin typeface="SimSun"/>
              </a:rPr>
              <a:t>框架使命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154680"/>
            <a:ext cx="6583680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20" b="0">
                <a:solidFill>
                  <a:srgbClr val="50616D"/>
                </a:solidFill>
                <a:latin typeface="Microsoft YaHei"/>
              </a:rPr>
              <a:t>把视觉风格变成可解析、可组合、可校验的设计系统。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03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为什么用 my-design-style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减少风格漂移，同时保留各风格的创作空间。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91056"/>
            <a:ext cx="73152" cy="1170432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65279"/>
                </a:solidFill>
                <a:latin typeface="Microsoft YaHei"/>
              </a:rPr>
              <a:t>执行契约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媒介、目标、约束归一为 DesignRequest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具体风格实现 DesignStyleBase 章节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交付前跑风格自检与仓库校验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91056"/>
            <a:ext cx="73152" cy="1170432"/>
          </a:xfrm>
          <a:prstGeom prst="rect">
            <a:avLst/>
          </a:prstGeom>
          <a:solidFill>
            <a:srgbClr val="789262"/>
          </a:solidFill>
          <a:ln w="6985">
            <a:solidFill>
              <a:srgbClr val="78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89262"/>
                </a:solidFill>
                <a:latin typeface="Microsoft YaHei"/>
              </a:rPr>
              <a:t>媒介翻译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804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PPT、Web、App、Dashboard 共用身份逻辑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版式 archetype 随媒介变化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多页先规划 Visual Rhythm Plan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73152" cy="1170432"/>
          </a:xfrm>
          <a:prstGeom prst="rect">
            <a:avLst/>
          </a:prstGeom>
          <a:solidFill>
            <a:srgbClr val="75878A"/>
          </a:solidFill>
          <a:ln w="6985">
            <a:solidFill>
              <a:srgbClr val="75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5878A"/>
                </a:solidFill>
                <a:latin typeface="Microsoft YaHei"/>
              </a:rPr>
              <a:t>资产边界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每风格独立 assets/&lt;style_name&gt;/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manifest 记录角色与来源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缺素材时用色卡、几何与声明的 fallback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017520"/>
            <a:ext cx="73152" cy="1170432"/>
          </a:xfrm>
          <a:prstGeom prst="rect">
            <a:avLst/>
          </a:prstGeom>
          <a:solidFill>
            <a:srgbClr val="9D2933"/>
          </a:solidFill>
          <a:ln w="6985">
            <a:solidFill>
              <a:srgbClr val="9D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2804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9D2933"/>
                </a:solidFill>
                <a:latin typeface="Microsoft YaHei"/>
              </a:rPr>
              <a:t>预览与锁定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previewMode 默认 auto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高风险任务先 StylePreviewPlan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否则 StyleLock 记录默认选项并披露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04 / 28</a:t>
            </a:r>
          </a:p>
        </p:txBody>
      </p:sp>
      <p:pic>
        <p:nvPicPr>
          <p:cNvPr id="29" name="Picture 28" descr="70633c98754bd1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1353312"/>
            <a:ext cx="1572768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DesignRequest 字段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用户可自然描述；执行时整理为稳定形状（见 style_contract.md）。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91056"/>
            <a:ext cx="73152" cy="1170432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65279"/>
                </a:solidFill>
                <a:latin typeface="Microsoft YaHei"/>
              </a:rPr>
              <a:t>必需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medium、contentGoal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explicitStyle 或足够强的 domain cue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91056"/>
            <a:ext cx="73152" cy="1170432"/>
          </a:xfrm>
          <a:prstGeom prst="rect">
            <a:avLst/>
          </a:prstGeom>
          <a:solidFill>
            <a:srgbClr val="789262"/>
          </a:solidFill>
          <a:ln w="6985">
            <a:solidFill>
              <a:srgbClr val="78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89262"/>
                </a:solidFill>
                <a:latin typeface="Microsoft YaHei"/>
              </a:rPr>
              <a:t>可选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804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audience / context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constraints：尺寸、平台、可访问性、品牌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modifiers、previewMode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73152" cy="1170432"/>
          </a:xfrm>
          <a:prstGeom prst="rect">
            <a:avLst/>
          </a:prstGeom>
          <a:solidFill>
            <a:srgbClr val="75878A"/>
          </a:solidFill>
          <a:ln w="6985">
            <a:solidFill>
              <a:srgbClr val="75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5878A"/>
                </a:solidFill>
                <a:latin typeface="Microsoft YaHei"/>
              </a:rPr>
              <a:t>Modifier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palette / motif / texture / layout / mood / asset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与主风格 compose，不默认替代主风格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冲突时澄清或按 style 文件调和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017520"/>
            <a:ext cx="73152" cy="1170432"/>
          </a:xfrm>
          <a:prstGeom prst="rect">
            <a:avLst/>
          </a:prstGeom>
          <a:solidFill>
            <a:srgbClr val="9D2933"/>
          </a:solidFill>
          <a:ln w="6985">
            <a:solidFill>
              <a:srgbClr val="9D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2804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9D2933"/>
                </a:solidFill>
                <a:latin typeface="Microsoft YaHei"/>
              </a:rPr>
              <a:t>歧义时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两风格置信度接近：问一次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素材授权不清：降级为参考或请用户提供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扩展新风格：走 Extension，不 fork Workflow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05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风格注册表（摘要）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完整条目见 references/style_registry.md。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0835640" cy="118414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581912"/>
            <a:ext cx="2084831" cy="1092707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FFFFFF"/>
                </a:solidFill>
                <a:latin typeface="Microsoft YaHei"/>
              </a:rPr>
              <a:t>Style 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1581912"/>
            <a:ext cx="1536192" cy="1092707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FFFFFF"/>
                </a:solidFill>
                <a:latin typeface="Microsoft YaHei"/>
              </a:rPr>
              <a:t>主语义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1" y="1581912"/>
            <a:ext cx="2999232" cy="1092707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FFFFFF"/>
                </a:solidFill>
                <a:latin typeface="Microsoft YaHei"/>
              </a:rPr>
              <a:t>典型场景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4112" y="1581912"/>
            <a:ext cx="1947672" cy="1092707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FFFFFF"/>
                </a:solidFill>
                <a:latin typeface="Microsoft YaHei"/>
              </a:rPr>
              <a:t>资产根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665476"/>
            <a:ext cx="10835640" cy="1184148"/>
          </a:xfrm>
          <a:prstGeom prst="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5" y="2720340"/>
            <a:ext cx="2066543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seu_design_style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8375" y="2720340"/>
            <a:ext cx="151790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高校学术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2720340"/>
            <a:ext cx="298094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答辩、科研、校园品牌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63256" y="2720340"/>
            <a:ext cx="192938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assets/seu_design_style/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3849624"/>
            <a:ext cx="10835640" cy="1184148"/>
          </a:xfrm>
          <a:prstGeom prst="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5" y="3904487"/>
            <a:ext cx="2066543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renminbi_color_style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5" y="3904487"/>
            <a:ext cx="151790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中式金融可信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3904487"/>
            <a:ext cx="298094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金融科技、年报、资产叙事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3904487"/>
            <a:ext cx="192938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assets/renminbi_color_style/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033772"/>
            <a:ext cx="10835640" cy="1184148"/>
          </a:xfrm>
          <a:prstGeom prst="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" y="5088636"/>
            <a:ext cx="2066543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chinese_traditional_color_style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08375" y="5088636"/>
            <a:ext cx="151790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传统色 / 新中式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5088636"/>
            <a:ext cx="298094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文博、茶礼、文化教育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5088636"/>
            <a:ext cx="1929384" cy="1110995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80" b="0">
                <a:solidFill>
                  <a:srgbClr val="161823"/>
                </a:solidFill>
                <a:latin typeface="Microsoft YaHei"/>
              </a:rPr>
              <a:t>assets/chinese_traditional_color_style/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06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不变执行管线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差异只在 references/&lt;style&gt;.md 与资产策略。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1828800"/>
            <a:ext cx="1630680" cy="23317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029968"/>
            <a:ext cx="384048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1956816"/>
            <a:ext cx="384048" cy="38404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468880"/>
            <a:ext cx="1356359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1823"/>
                </a:solidFill>
                <a:latin typeface="Microsoft YaHei"/>
              </a:rPr>
              <a:t>Normalize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2898648"/>
            <a:ext cx="1338071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>
                <a:solidFill>
                  <a:srgbClr val="50616D"/>
                </a:solidFill>
                <a:latin typeface="Microsoft YaHei"/>
              </a:rPr>
              <a:t>DesignRequest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99944" y="1828800"/>
            <a:ext cx="1630680" cy="23317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37104" y="2029968"/>
            <a:ext cx="384048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7104" y="1956816"/>
            <a:ext cx="384048" cy="384048"/>
          </a:xfrm>
          <a:prstGeom prst="rect">
            <a:avLst/>
          </a:prstGeom>
          <a:solidFill>
            <a:srgbClr val="75878A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7104" y="2468880"/>
            <a:ext cx="1356359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1823"/>
                </a:solidFill>
                <a:latin typeface="Microsoft YaHei"/>
              </a:rPr>
              <a:t>Resolve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6248" y="2898648"/>
            <a:ext cx="1338071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>
                <a:solidFill>
                  <a:srgbClr val="50616D"/>
                </a:solidFill>
                <a:latin typeface="Microsoft YaHei"/>
              </a:rPr>
              <a:t>registry / alias / cue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5216" y="1828800"/>
            <a:ext cx="1630680" cy="23317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32376" y="2029968"/>
            <a:ext cx="384048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2376" y="1956816"/>
            <a:ext cx="384048" cy="38404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2376" y="2468880"/>
            <a:ext cx="1356359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1823"/>
                </a:solidFill>
                <a:latin typeface="Microsoft YaHei"/>
              </a:rPr>
              <a:t>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520" y="2898648"/>
            <a:ext cx="1338071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>
                <a:solidFill>
                  <a:srgbClr val="50616D"/>
                </a:solidFill>
                <a:latin typeface="Microsoft YaHei"/>
              </a:rPr>
              <a:t>按需 references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1828800"/>
            <a:ext cx="1630680" cy="23317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029968"/>
            <a:ext cx="384048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7648" y="1956816"/>
            <a:ext cx="384048" cy="384048"/>
          </a:xfrm>
          <a:prstGeom prst="rect">
            <a:avLst/>
          </a:prstGeom>
          <a:solidFill>
            <a:srgbClr val="75878A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2468880"/>
            <a:ext cx="1356359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1823"/>
                </a:solidFill>
                <a:latin typeface="Microsoft YaHei"/>
              </a:rPr>
              <a:t>Compose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36792" y="2898648"/>
            <a:ext cx="1338071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>
                <a:solidFill>
                  <a:srgbClr val="50616D"/>
                </a:solidFill>
                <a:latin typeface="Microsoft YaHei"/>
              </a:rPr>
              <a:t>modifiers + rhythm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85759" y="1828800"/>
            <a:ext cx="1630680" cy="23317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22920" y="2029968"/>
            <a:ext cx="384048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22920" y="1956816"/>
            <a:ext cx="384048" cy="38404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22920" y="2468880"/>
            <a:ext cx="1356359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1823"/>
                </a:solidFill>
                <a:latin typeface="Microsoft YaHei"/>
              </a:rPr>
              <a:t>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2063" y="2898648"/>
            <a:ext cx="1338071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>
                <a:solidFill>
                  <a:srgbClr val="50616D"/>
                </a:solidFill>
                <a:latin typeface="Microsoft YaHei"/>
              </a:rPr>
              <a:t>preview 或默认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1032" y="1828800"/>
            <a:ext cx="1630680" cy="2331720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18192" y="2029968"/>
            <a:ext cx="384048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18192" y="1956816"/>
            <a:ext cx="384048" cy="384048"/>
          </a:xfrm>
          <a:prstGeom prst="rect">
            <a:avLst/>
          </a:prstGeom>
          <a:solidFill>
            <a:srgbClr val="75878A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918192" y="2468880"/>
            <a:ext cx="1356359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161823"/>
                </a:solidFill>
                <a:latin typeface="Microsoft YaHei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7336" y="2898648"/>
            <a:ext cx="1338071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19">
                <a:solidFill>
                  <a:srgbClr val="50616D"/>
                </a:solidFill>
                <a:latin typeface="Microsoft YaHei"/>
              </a:rPr>
              <a:t>风格 Self-Check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07 / 28</a:t>
            </a:r>
          </a:p>
        </p:txBody>
      </p:sp>
      <p:pic>
        <p:nvPicPr>
          <p:cNvPr id="43" name="Picture 42" descr="0461bc861b6980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0" y="1847088"/>
            <a:ext cx="1417320" cy="1965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本示例的 StyleLock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previewMode: skip — 默认来自 chinese_traditional_color_style。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44752"/>
            <a:ext cx="2743200" cy="512064"/>
          </a:xfrm>
          <a:prstGeom prst="round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00200"/>
            <a:ext cx="2286000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65279"/>
                </a:solidFill>
                <a:latin typeface="Microsoft YaHei"/>
              </a:rPr>
              <a:t>色卡系列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444752"/>
            <a:ext cx="2743200" cy="51206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1563624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0" b="1">
                <a:solidFill>
                  <a:srgbClr val="161823"/>
                </a:solidFill>
                <a:latin typeface="Microsoft YaHei"/>
              </a:rPr>
              <a:t>Indigo Scholarly + Ink Paper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517904"/>
            <a:ext cx="425196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810" b="0">
                <a:solidFill>
                  <a:srgbClr val="50616D"/>
                </a:solidFill>
                <a:latin typeface="Microsoft YaHei"/>
              </a:rPr>
              <a:t>本示例主视觉；对比色卡仅作说明页。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249424"/>
            <a:ext cx="2743200" cy="512064"/>
          </a:xfrm>
          <a:prstGeom prst="round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404872"/>
            <a:ext cx="2286000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65279"/>
                </a:solidFill>
                <a:latin typeface="Microsoft YaHei"/>
              </a:rPr>
              <a:t>纸感纹理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2249424"/>
            <a:ext cx="2743200" cy="51206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86200" y="2368296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0" b="1">
                <a:solidFill>
                  <a:srgbClr val="161823"/>
                </a:solidFill>
                <a:latin typeface="Microsoft YaHei"/>
              </a:rPr>
              <a:t>rice-paper / 低透明度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322576"/>
            <a:ext cx="425196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810" b="0">
                <a:solidFill>
                  <a:srgbClr val="50616D"/>
                </a:solidFill>
                <a:latin typeface="Microsoft YaHei"/>
              </a:rPr>
              <a:t>背景与章节页；密集正文区保持干净。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054096"/>
            <a:ext cx="2743200" cy="512064"/>
          </a:xfrm>
          <a:prstGeom prst="round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209544"/>
            <a:ext cx="2286000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65279"/>
                </a:solidFill>
                <a:latin typeface="Microsoft YaHei"/>
              </a:rPr>
              <a:t>文化手势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39" y="3054096"/>
            <a:ext cx="2743200" cy="51206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172968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0" b="1">
                <a:solidFill>
                  <a:srgbClr val="161823"/>
                </a:solidFill>
                <a:latin typeface="Microsoft YaHei"/>
              </a:rPr>
              <a:t>restrained-rules + gallery-labels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127248"/>
            <a:ext cx="425196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810" b="0">
                <a:solidFill>
                  <a:srgbClr val="50616D"/>
                </a:solidFill>
                <a:latin typeface="Microsoft YaHei"/>
              </a:rPr>
              <a:t>细线、边栏、色签；motif 随页面角色轮换。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858768"/>
            <a:ext cx="2743200" cy="512064"/>
          </a:xfrm>
          <a:prstGeom prst="round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014216"/>
            <a:ext cx="2286000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65279"/>
                </a:solidFill>
                <a:latin typeface="Microsoft YaHei"/>
              </a:rPr>
              <a:t>资产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3858768"/>
            <a:ext cx="2743200" cy="51206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86200" y="3977640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0" b="1">
                <a:solidFill>
                  <a:srgbClr val="161823"/>
                </a:solidFill>
                <a:latin typeface="Microsoft YaHei"/>
              </a:rPr>
              <a:t>style-owned SVG + code-native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931920"/>
            <a:ext cx="425196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810" b="0">
                <a:solidFill>
                  <a:srgbClr val="50616D"/>
                </a:solidFill>
                <a:latin typeface="Microsoft YaHei"/>
              </a:rPr>
              <a:t>边框、乐器、云纹、中国结等 SVG；纹理可代码生成。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663440"/>
            <a:ext cx="2743200" cy="512064"/>
          </a:xfrm>
          <a:prstGeom prst="round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4818888"/>
            <a:ext cx="2286000" cy="12801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60" b="1">
                <a:solidFill>
                  <a:srgbClr val="065279"/>
                </a:solidFill>
                <a:latin typeface="Microsoft YaHei"/>
              </a:rPr>
              <a:t>预览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49039" y="4663440"/>
            <a:ext cx="2743200" cy="512064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86200" y="4782312"/>
            <a:ext cx="24231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0" b="1">
                <a:solidFill>
                  <a:srgbClr val="161823"/>
                </a:solidFill>
                <a:latin typeface="Microsoft YaHei"/>
              </a:rPr>
              <a:t>previewMode: skip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736592"/>
            <a:ext cx="425196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810" b="0">
                <a:solidFill>
                  <a:srgbClr val="50616D"/>
                </a:solidFill>
                <a:latin typeface="Microsoft YaHei"/>
              </a:rPr>
              <a:t>内部导览；对外交付可改为 required。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08 / 28</a:t>
            </a:r>
          </a:p>
        </p:txBody>
      </p:sp>
      <p:pic>
        <p:nvPicPr>
          <p:cNvPr id="38" name="Picture 37" descr="e7501b7ae0ebb1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5321808"/>
            <a:ext cx="141732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ce39114c1b895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5074920"/>
            <a:ext cx="2697480" cy="8686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ice-paper-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Visual Rhythm Plan（要点）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多页产物先规划节奏，再填内容。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1591056"/>
            <a:ext cx="73152" cy="1170432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65279"/>
                </a:solidFill>
                <a:latin typeface="Microsoft YaHei"/>
              </a:rPr>
              <a:t>Archetype 序列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封面 → 目录 → 章节 → 概念/对比 → 总结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每页承担一种信息角色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1636" y="1591056"/>
            <a:ext cx="73152" cy="1170432"/>
          </a:xfrm>
          <a:prstGeom prst="rect">
            <a:avLst/>
          </a:prstGeom>
          <a:solidFill>
            <a:srgbClr val="789262"/>
          </a:solidFill>
          <a:ln w="6985">
            <a:solidFill>
              <a:srgbClr val="78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2804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89262"/>
                </a:solidFill>
                <a:latin typeface="Microsoft YaHei"/>
              </a:rPr>
              <a:t>视觉锚点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2804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每页至少一个非正文锚点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色卡、表格、流程、侧栏或图像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锚点服务内容结构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" y="3017520"/>
            <a:ext cx="73152" cy="1170432"/>
          </a:xfrm>
          <a:prstGeom prst="rect">
            <a:avLst/>
          </a:prstGeom>
          <a:solidFill>
            <a:srgbClr val="75878A"/>
          </a:solidFill>
          <a:ln w="6985">
            <a:solidFill>
              <a:srgbClr val="75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5878A"/>
                </a:solidFill>
                <a:latin typeface="Microsoft YaHei"/>
              </a:rPr>
              <a:t>Motif 轮换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边栏、色签、纹理强度随页变化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数据密集页降低装饰权重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1636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31636" y="3017520"/>
            <a:ext cx="73152" cy="1170432"/>
          </a:xfrm>
          <a:prstGeom prst="rect">
            <a:avLst/>
          </a:prstGeom>
          <a:solidFill>
            <a:srgbClr val="9D2933"/>
          </a:solidFill>
          <a:ln w="6985">
            <a:solidFill>
              <a:srgbClr val="9D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32804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9D2933"/>
                </a:solidFill>
                <a:latin typeface="Microsoft YaHei"/>
              </a:rPr>
              <a:t>自检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32804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variation checks 来自 rhythm plan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只修订影响可用性、安全或风格一致性的问题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09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如何选择主风格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优先 explicit style id；domain cue 次之；需要时问一次。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737360"/>
            <a:ext cx="2926080" cy="80467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883664"/>
            <a:ext cx="26060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960" b="1">
                <a:solidFill>
                  <a:srgbClr val="161823"/>
                </a:solidFill>
                <a:latin typeface="Microsoft YaHei"/>
              </a:rPr>
              <a:t>高校 / 科研 / 答辩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13632" y="2139696"/>
            <a:ext cx="877824" cy="0"/>
          </a:xfrm>
          <a:prstGeom prst="line">
            <a:avLst/>
          </a:prstGeom>
          <a:ln w="1524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892040" y="1737360"/>
            <a:ext cx="2423160" cy="804672"/>
          </a:xfrm>
          <a:prstGeom prst="roundRect">
            <a:avLst/>
          </a:prstGeom>
          <a:solidFill>
            <a:srgbClr val="75878A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1965960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seu_design_style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06640" y="2139696"/>
            <a:ext cx="658368" cy="0"/>
          </a:xfrm>
          <a:prstGeom prst="line">
            <a:avLst/>
          </a:prstGeom>
          <a:ln w="1524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183879" y="1737360"/>
            <a:ext cx="2880360" cy="804672"/>
          </a:xfrm>
          <a:prstGeom prst="round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901952"/>
            <a:ext cx="25603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50616D"/>
                </a:solidFill>
                <a:latin typeface="Microsoft YaHei"/>
              </a:rPr>
              <a:t>浅底、绿结构、黄精确强调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971800"/>
            <a:ext cx="2926080" cy="80467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118104"/>
            <a:ext cx="26060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960" b="1">
                <a:solidFill>
                  <a:srgbClr val="161823"/>
                </a:solidFill>
                <a:latin typeface="Microsoft YaHei"/>
              </a:rPr>
              <a:t>金融 / 资产 / 可信价值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13632" y="3374136"/>
            <a:ext cx="877824" cy="0"/>
          </a:xfrm>
          <a:prstGeom prst="line">
            <a:avLst/>
          </a:prstGeom>
          <a:ln w="1524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892040" y="2971800"/>
            <a:ext cx="2423160" cy="804672"/>
          </a:xfrm>
          <a:prstGeom prst="roundRect">
            <a:avLst/>
          </a:prstGeom>
          <a:solidFill>
            <a:srgbClr val="75878A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3200400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renminbi_color_style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406640" y="3374136"/>
            <a:ext cx="658368" cy="0"/>
          </a:xfrm>
          <a:prstGeom prst="line">
            <a:avLst/>
          </a:prstGeom>
          <a:ln w="1524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83879" y="2971800"/>
            <a:ext cx="2880360" cy="804672"/>
          </a:xfrm>
          <a:prstGeom prst="round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7" y="3136392"/>
            <a:ext cx="25603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50616D"/>
                </a:solidFill>
                <a:latin typeface="Microsoft YaHei"/>
              </a:rPr>
              <a:t>面额色系、纸感、细线层次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06240"/>
            <a:ext cx="2926080" cy="80467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352544"/>
            <a:ext cx="26060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960" b="1">
                <a:solidFill>
                  <a:srgbClr val="161823"/>
                </a:solidFill>
                <a:latin typeface="Microsoft YaHei"/>
              </a:rPr>
              <a:t>文博 / 国风 / 传统工艺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913632" y="4608576"/>
            <a:ext cx="877824" cy="0"/>
          </a:xfrm>
          <a:prstGeom prst="line">
            <a:avLst/>
          </a:prstGeom>
          <a:ln w="1524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92040" y="4206240"/>
            <a:ext cx="2423160" cy="804672"/>
          </a:xfrm>
          <a:prstGeom prst="round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10912" y="4434840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30" b="1">
                <a:solidFill>
                  <a:srgbClr val="FFFFFF"/>
                </a:solidFill>
                <a:latin typeface="Consolas"/>
              </a:rPr>
              <a:t>chinese_traditional_color_style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06640" y="4608576"/>
            <a:ext cx="658368" cy="0"/>
          </a:xfrm>
          <a:prstGeom prst="line">
            <a:avLst/>
          </a:prstGeom>
          <a:ln w="1524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83879" y="4206240"/>
            <a:ext cx="2880360" cy="804672"/>
          </a:xfrm>
          <a:prstGeom prst="round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39327" y="4370831"/>
            <a:ext cx="25603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860" b="0">
                <a:solidFill>
                  <a:srgbClr val="50616D"/>
                </a:solidFill>
                <a:latin typeface="Microsoft YaHei"/>
              </a:rPr>
              <a:t>命名色卡、留白、现代可读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10 / 28</a:t>
            </a:r>
          </a:p>
        </p:txBody>
      </p:sp>
      <p:pic>
        <p:nvPicPr>
          <p:cNvPr id="37" name="Picture 36" descr="6e1c9f7a637369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4406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600200" cy="7498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065279"/>
                </a:solidFill>
                <a:latin typeface="Consola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8138160" cy="6217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61823"/>
                </a:solidFill>
                <a:latin typeface="SimSun"/>
              </a:rPr>
              <a:t>三种风格：Intent 与创作空间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54680"/>
            <a:ext cx="6583680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20" b="0">
                <a:solidFill>
                  <a:srgbClr val="50616D"/>
                </a:solidFill>
                <a:latin typeface="Microsoft YaHei"/>
              </a:rPr>
              <a:t>各风格 Self-Check 与 Asset Rules 以 references 为准；本页只作方向对比。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共享运行时章节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具体风格文件均实现 DesignStyleBase 同一组章节。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0835640" cy="676656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581912"/>
            <a:ext cx="2816352" cy="58521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FFFFFF"/>
                </a:solidFill>
                <a:latin typeface="Microsoft YaHei"/>
              </a:rPr>
              <a:t>章节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1581912"/>
            <a:ext cx="7799832" cy="585216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FFFFFF"/>
                </a:solidFill>
                <a:latin typeface="Microsoft YaHei"/>
              </a:rPr>
              <a:t>作用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157984"/>
            <a:ext cx="10835640" cy="676656"/>
          </a:xfrm>
          <a:prstGeom prst="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212848"/>
            <a:ext cx="279806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Triggers /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212848"/>
            <a:ext cx="778154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何时用、要解决什么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834640"/>
            <a:ext cx="10835640" cy="676656"/>
          </a:xfrm>
          <a:prstGeom prst="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2889504"/>
            <a:ext cx="279806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Creative Latitude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9896" y="2889504"/>
            <a:ext cx="778154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允许的探索范围与安全边界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511296"/>
            <a:ext cx="10835640" cy="676656"/>
          </a:xfrm>
          <a:prstGeom prst="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" y="3566160"/>
            <a:ext cx="279806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Color Tokens / Typography / Layout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9896" y="3566160"/>
            <a:ext cx="778154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可执行的视觉系统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187952"/>
            <a:ext cx="10835640" cy="676656"/>
          </a:xfrm>
          <a:prstGeom prst="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4242816"/>
            <a:ext cx="279806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Visual Rhythm / Medium Translation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9896" y="4242816"/>
            <a:ext cx="778154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多页与 Web/App/Dashboard 翻译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4864608"/>
            <a:ext cx="10835640" cy="676656"/>
          </a:xfrm>
          <a:prstGeom prst="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" y="4919472"/>
            <a:ext cx="279806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Asset Interface / Texture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9896" y="4919472"/>
            <a:ext cx="778154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素材句柄与 fallback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5541264"/>
            <a:ext cx="10835640" cy="676656"/>
          </a:xfrm>
          <a:prstGeom prst="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5" y="5596127"/>
            <a:ext cx="279806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Modifier Compatibility / Preview / Self-Check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39896" y="5596127"/>
            <a:ext cx="7781544" cy="603504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40" b="0">
                <a:solidFill>
                  <a:srgbClr val="161823"/>
                </a:solidFill>
                <a:latin typeface="Microsoft YaHei"/>
              </a:rPr>
              <a:t>组合、预览与交付核对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对比色卡（说明页）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不改变本 deck 的中国传统色主视觉。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09344"/>
            <a:ext cx="21488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040" b="1">
                <a:solidFill>
                  <a:srgbClr val="161823"/>
                </a:solidFill>
                <a:latin typeface="Microsoft YaHei"/>
              </a:rPr>
              <a:t>SEU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65376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10" b="0">
                <a:solidFill>
                  <a:srgbClr val="50616D"/>
                </a:solidFill>
                <a:latin typeface="Microsoft YaHei"/>
              </a:rPr>
              <a:t>学术结构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536192"/>
            <a:ext cx="530352" cy="402336"/>
          </a:xfrm>
          <a:prstGeom prst="rect">
            <a:avLst/>
          </a:prstGeom>
          <a:solidFill>
            <a:srgbClr val="587558"/>
          </a:solidFill>
          <a:ln w="6985">
            <a:solidFill>
              <a:srgbClr val="587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绿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7328" y="1536192"/>
            <a:ext cx="530352" cy="402336"/>
          </a:xfrm>
          <a:prstGeom prst="rect">
            <a:avLst/>
          </a:prstGeom>
          <a:solidFill>
            <a:srgbClr val="FDD000"/>
          </a:solidFill>
          <a:ln w="6985">
            <a:solidFill>
              <a:srgbClr val="FD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1536192"/>
            <a:ext cx="530352" cy="402336"/>
          </a:xfrm>
          <a:prstGeom prst="rect">
            <a:avLst/>
          </a:prstGeom>
          <a:solidFill>
            <a:srgbClr val="B4B7B9"/>
          </a:solidFill>
          <a:ln w="6985">
            <a:solidFill>
              <a:srgbClr val="B4B7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7488" y="1536192"/>
            <a:ext cx="530352" cy="402336"/>
          </a:xfrm>
          <a:prstGeom prst="rect">
            <a:avLst/>
          </a:prstGeom>
          <a:solidFill>
            <a:srgbClr val="231815"/>
          </a:solidFill>
          <a:ln w="6985">
            <a:solidFill>
              <a:srgbClr val="2318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1536192"/>
            <a:ext cx="530352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5099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359152"/>
            <a:ext cx="21488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040" b="1">
                <a:solidFill>
                  <a:srgbClr val="161823"/>
                </a:solidFill>
                <a:latin typeface="Microsoft YaHei"/>
              </a:rPr>
              <a:t>RMB 50 Trust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615184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10" b="0">
                <a:solidFill>
                  <a:srgbClr val="50616D"/>
                </a:solidFill>
                <a:latin typeface="Microsoft YaHei"/>
              </a:rPr>
              <a:t>金融可信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27248" y="2286000"/>
            <a:ext cx="530352" cy="402336"/>
          </a:xfrm>
          <a:prstGeom prst="rect">
            <a:avLst/>
          </a:prstGeom>
          <a:solidFill>
            <a:srgbClr val="496B61"/>
          </a:solidFill>
          <a:ln w="6985">
            <a:solidFill>
              <a:srgbClr val="496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0672" y="2724912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主绿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67328" y="2286000"/>
            <a:ext cx="530352" cy="402336"/>
          </a:xfrm>
          <a:prstGeom prst="rect">
            <a:avLst/>
          </a:prstGeom>
          <a:solidFill>
            <a:srgbClr val="99BFB2"/>
          </a:solidFill>
          <a:ln w="6985">
            <a:solidFill>
              <a:srgbClr val="99B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0752" y="2724912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薄荷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2286000"/>
            <a:ext cx="530352" cy="402336"/>
          </a:xfrm>
          <a:prstGeom prst="rect">
            <a:avLst/>
          </a:prstGeom>
          <a:solidFill>
            <a:srgbClr val="EEF2EC"/>
          </a:solidFill>
          <a:ln w="6985">
            <a:solidFill>
              <a:srgbClr val="EEF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2" y="2724912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47488" y="2286000"/>
            <a:ext cx="530352" cy="402336"/>
          </a:xfrm>
          <a:prstGeom prst="rect">
            <a:avLst/>
          </a:prstGeom>
          <a:solidFill>
            <a:srgbClr val="241A17"/>
          </a:solidFill>
          <a:ln w="6985">
            <a:solidFill>
              <a:srgbClr val="241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10912" y="2724912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3108960"/>
            <a:ext cx="21488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040" b="1">
                <a:solidFill>
                  <a:srgbClr val="161823"/>
                </a:solidFill>
                <a:latin typeface="Microsoft YaHei"/>
              </a:rPr>
              <a:t>Traditional Indigo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3364991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10" b="0">
                <a:solidFill>
                  <a:srgbClr val="50616D"/>
                </a:solidFill>
                <a:latin typeface="Microsoft YaHei"/>
              </a:rPr>
              <a:t>本示例主卡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27248" y="3035808"/>
            <a:ext cx="530352" cy="402336"/>
          </a:xfrm>
          <a:prstGeom prst="rect">
            <a:avLst/>
          </a:prstGeom>
          <a:solidFill>
            <a:srgbClr val="177CB0"/>
          </a:solidFill>
          <a:ln w="6985">
            <a:solidFill>
              <a:srgbClr val="177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90672" y="3474720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靛青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767328" y="3035808"/>
            <a:ext cx="530352" cy="402336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0752" y="3474720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靛蓝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07408" y="3035808"/>
            <a:ext cx="530352" cy="402336"/>
          </a:xfrm>
          <a:prstGeom prst="rect">
            <a:avLst/>
          </a:prstGeom>
          <a:solidFill>
            <a:srgbClr val="D6ECF0"/>
          </a:solidFill>
          <a:ln w="6985">
            <a:solidFill>
              <a:srgbClr val="D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0832" y="3474720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月白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47488" y="3035808"/>
            <a:ext cx="530352" cy="402336"/>
          </a:xfrm>
          <a:prstGeom prst="rect">
            <a:avLst/>
          </a:prstGeom>
          <a:solidFill>
            <a:srgbClr val="161823"/>
          </a:solidFill>
          <a:ln w="6985">
            <a:solidFill>
              <a:srgbClr val="16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10912" y="3474720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漆黑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600200" cy="7498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065279"/>
                </a:solidFill>
                <a:latin typeface="Consola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8138160" cy="6217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61823"/>
                </a:solidFill>
                <a:latin typeface="SimSun"/>
              </a:rPr>
              <a:t>seu_design_style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54680"/>
            <a:ext cx="6583680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20" b="0">
                <a:solidFill>
                  <a:srgbClr val="50616D"/>
                </a:solidFill>
                <a:latin typeface="Microsoft YaHei"/>
              </a:rPr>
              <a:t>可替换内容的学术载体；品牌元素建立结构，内容保持主位。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SEU — Intent 与创作空间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详见 references/seu_design_style.md。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91056"/>
            <a:ext cx="73152" cy="1170432"/>
          </a:xfrm>
          <a:prstGeom prst="rect">
            <a:avLst/>
          </a:prstGeom>
          <a:solidFill>
            <a:srgbClr val="587558"/>
          </a:solidFill>
          <a:ln w="6985">
            <a:solidFill>
              <a:srgbClr val="587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587558"/>
                </a:solidFill>
                <a:latin typeface="Microsoft YaHei"/>
              </a:rP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标题、论点、图表、表格易替换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品牌用于身份与页面结构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91056"/>
            <a:ext cx="73152" cy="1170432"/>
          </a:xfrm>
          <a:prstGeom prst="rect">
            <a:avLst/>
          </a:prstGeom>
          <a:solidFill>
            <a:srgbClr val="FDD000"/>
          </a:solidFill>
          <a:ln w="6985">
            <a:solidFill>
              <a:srgbClr val="FD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FDD000"/>
                </a:solidFill>
                <a:latin typeface="Microsoft YaHei"/>
              </a:rPr>
              <a:t>创作空间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804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可从密实科研到仪式感封面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建筑/植物/校训 motif 作结构设备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官方标识比例保持不变形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73152" cy="1170432"/>
          </a:xfrm>
          <a:prstGeom prst="rect">
            <a:avLst/>
          </a:prstGeom>
          <a:solidFill>
            <a:srgbClr val="AD986E"/>
          </a:solidFill>
          <a:ln w="6985">
            <a:solidFill>
              <a:srgbClr val="AD98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AD986E"/>
                </a:solidFill>
                <a:latin typeface="Microsoft YaHei"/>
              </a:rPr>
              <a:t>色彩角色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浅底默认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绿 = 层级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黄 = 短强调与编号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017520"/>
            <a:ext cx="73152" cy="1170432"/>
          </a:xfrm>
          <a:prstGeom prst="rect">
            <a:avLst/>
          </a:prstGeom>
          <a:solidFill>
            <a:srgbClr val="6F8B6C"/>
          </a:solidFill>
          <a:ln w="6985">
            <a:solidFill>
              <a:srgbClr val="6F8B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2804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6F8B6C"/>
                </a:solidFill>
                <a:latin typeface="Microsoft YaHei"/>
              </a:rPr>
              <a:t>交付自检（摘要）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浅底、内容优先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表格与 key/value 对齐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品牌元素有目的、不挤占阅读路径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SEU — 请求示例（正向）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说明媒介、受众、结构与可选 preview。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44752"/>
            <a:ext cx="10561320" cy="111556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44752"/>
            <a:ext cx="109728" cy="1115568"/>
          </a:xfrm>
          <a:prstGeom prst="rect">
            <a:avLst/>
          </a:prstGeom>
          <a:solidFill>
            <a:srgbClr val="587558"/>
          </a:solidFill>
          <a:ln w="6985">
            <a:solidFill>
              <a:srgbClr val="5875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572768"/>
            <a:ext cx="20116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587558"/>
                </a:solidFill>
                <a:latin typeface="Microsoft YaHei"/>
              </a:rPr>
              <a:t>组会 PPT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563624"/>
            <a:ext cx="8183879" cy="8046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790" b="0">
                <a:solidFill>
                  <a:srgbClr val="161823"/>
                </a:solidFill>
                <a:latin typeface="Microsoft YaHei"/>
              </a:rPr>
              <a:t>请使用 my-design-style 的 seu_design_style，将下列研究内容做成 16:9 学术汇报。受众是导师与课题组；优先图表与表格，封面可适度仪式感。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62072"/>
            <a:ext cx="10561320" cy="111556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862072"/>
            <a:ext cx="109728" cy="1115568"/>
          </a:xfrm>
          <a:prstGeom prst="rect">
            <a:avLst/>
          </a:prstGeom>
          <a:solidFill>
            <a:srgbClr val="FDD000"/>
          </a:solidFill>
          <a:ln w="6985">
            <a:solidFill>
              <a:srgbClr val="FDD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990088"/>
            <a:ext cx="20116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DD000"/>
                </a:solidFill>
                <a:latin typeface="Microsoft YaHei"/>
              </a:rPr>
              <a:t>项目页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80944"/>
            <a:ext cx="8183879" cy="8046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790" b="0">
                <a:solidFill>
                  <a:srgbClr val="161823"/>
                </a:solidFill>
                <a:latin typeface="Microsoft YaHei"/>
              </a:rPr>
              <a:t>请使用 seu_design_style 设计科研项目网页：简介、成员、成果与联系清晰可扫读；绿色结构线、黄色用于关键指标。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600200" cy="7498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065279"/>
                </a:solidFill>
                <a:latin typeface="Consola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8138160" cy="6217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61823"/>
                </a:solidFill>
                <a:latin typeface="SimSun"/>
              </a:rPr>
              <a:t>renminbi_color_style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54680"/>
            <a:ext cx="6583680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20" b="0">
                <a:solidFill>
                  <a:srgbClr val="50616D"/>
                </a:solidFill>
                <a:latin typeface="Microsoft YaHei"/>
              </a:rPr>
              <a:t>纸币印刷的层次与可信感；原创抽象，非法定货币复刻。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RMB 色彩 — Intent 与创作空间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详见 references/renminbi_color_style.md。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91056"/>
            <a:ext cx="73152" cy="1170432"/>
          </a:xfrm>
          <a:prstGeom prst="rect">
            <a:avLst/>
          </a:prstGeom>
          <a:solidFill>
            <a:srgbClr val="496B61"/>
          </a:solidFill>
          <a:ln w="6985">
            <a:solidFill>
              <a:srgbClr val="496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496B61"/>
                </a:solidFill>
                <a:latin typeface="Microsoft YaHei"/>
              </a:rP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内容优先、层次丰富、纸感表面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价值感来自设计系统而非真钞图像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91056"/>
            <a:ext cx="73152" cy="1170432"/>
          </a:xfrm>
          <a:prstGeom prst="rect">
            <a:avLst/>
          </a:prstGeom>
          <a:solidFill>
            <a:srgbClr val="364A88"/>
          </a:solidFill>
          <a:ln w="6985">
            <a:solidFill>
              <a:srgbClr val="364A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364A88"/>
                </a:solidFill>
                <a:latin typeface="Microsoft YaHei"/>
              </a:rPr>
              <a:t>创作空间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804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面额色系、细线、水印感面板、编辑时刻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红金可作价值信号，需与纸墨平衡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73152" cy="1170432"/>
          </a:xfrm>
          <a:prstGeom prst="rect">
            <a:avLst/>
          </a:prstGeom>
          <a:solidFill>
            <a:srgbClr val="6A4D31"/>
          </a:solidFill>
          <a:ln w="6985">
            <a:solidFill>
              <a:srgbClr val="6A4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6A4D31"/>
                </a:solidFill>
                <a:latin typeface="Microsoft YaHei"/>
              </a:rPr>
              <a:t>安全边界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Self-Check：是否 trustworthy 而非 counterfeit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使用原创线条与授权素材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图表与控件可读性优先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017520"/>
            <a:ext cx="73152" cy="1170432"/>
          </a:xfrm>
          <a:prstGeom prst="rect">
            <a:avLst/>
          </a:prstGeom>
          <a:solidFill>
            <a:srgbClr val="443459"/>
          </a:solidFill>
          <a:ln w="6985">
            <a:solidFill>
              <a:srgbClr val="4434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2804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443459"/>
                </a:solidFill>
                <a:latin typeface="Microsoft YaHei"/>
              </a:rPr>
              <a:t>数字体验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金额与百分比对齐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红色留给主值或风险信号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Dashboard 保持常规金融控件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RMB 色彩 — 请求示例（正向）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同时说明想要的气质与媒介。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44752"/>
            <a:ext cx="10561320" cy="111556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44752"/>
            <a:ext cx="109728" cy="1115568"/>
          </a:xfrm>
          <a:prstGeom prst="rect">
            <a:avLst/>
          </a:prstGeom>
          <a:solidFill>
            <a:srgbClr val="496B61"/>
          </a:solidFill>
          <a:ln w="6985">
            <a:solidFill>
              <a:srgbClr val="496B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572768"/>
            <a:ext cx="20116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496B61"/>
                </a:solidFill>
                <a:latin typeface="Microsoft YaHei"/>
              </a:rPr>
              <a:t>产品首页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563624"/>
            <a:ext cx="8183879" cy="8046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790" b="0">
                <a:solidFill>
                  <a:srgbClr val="161823"/>
                </a:solidFill>
                <a:latin typeface="Microsoft YaHei"/>
              </a:rPr>
              <a:t>请使用 renminbi_color_style 设计企业金融产品首页：可信、纸感、面额色系与细线；需要原创抽象金融视觉，交付前按该风格 Self-Check 核对。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62072"/>
            <a:ext cx="10561320" cy="111556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862072"/>
            <a:ext cx="109728" cy="1115568"/>
          </a:xfrm>
          <a:prstGeom prst="rect">
            <a:avLst/>
          </a:prstGeom>
          <a:solidFill>
            <a:srgbClr val="BD0E2B"/>
          </a:solidFill>
          <a:ln w="6985">
            <a:solidFill>
              <a:srgbClr val="BD0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990088"/>
            <a:ext cx="20116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BD0E2B"/>
                </a:solidFill>
                <a:latin typeface="Microsoft YaHei"/>
              </a:rPr>
              <a:t>年报 PPT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80944"/>
            <a:ext cx="8183879" cy="8046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790" b="0">
                <a:solidFill>
                  <a:srgbClr val="161823"/>
                </a:solidFill>
                <a:latin typeface="Microsoft YaHei"/>
              </a:rPr>
              <a:t>请使用 renminbi_color_style 做年度经营报告 PPT：指标、结构、风险与计划页型完整；数字对齐，红色用于核心结论。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600200" cy="7498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065279"/>
                </a:solidFill>
                <a:latin typeface="Consola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8138160" cy="6217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61823"/>
                </a:solidFill>
                <a:latin typeface="SimSun"/>
              </a:rPr>
              <a:t>chinese_traditional_color_style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54680"/>
            <a:ext cx="6583680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20" b="0">
                <a:solidFill>
                  <a:srgbClr val="50616D"/>
                </a:solidFill>
                <a:latin typeface="Microsoft YaHei"/>
              </a:rPr>
              <a:t>命名色卡为纪律；当代构图承载文化气质。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20 / 28</a:t>
            </a:r>
          </a:p>
        </p:txBody>
      </p:sp>
      <p:pic>
        <p:nvPicPr>
          <p:cNvPr id="11" name="Picture 10" descr="eb220267c949db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502920"/>
            <a:ext cx="160020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中国传统色 — Intent 与创作空间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详见 references/chinese_traditional_color_style.md。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91056"/>
            <a:ext cx="73152" cy="1170432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65279"/>
                </a:solidFill>
                <a:latin typeface="Microsoft YaHei"/>
              </a:rPr>
              <a:t>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从完整系列色卡出发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色名增加文化纹理，层级仍现代可靠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91056"/>
            <a:ext cx="73152" cy="1170432"/>
          </a:xfrm>
          <a:prstGeom prst="rect">
            <a:avLst/>
          </a:prstGeom>
          <a:solidFill>
            <a:srgbClr val="789262"/>
          </a:solidFill>
          <a:ln w="6985">
            <a:solidFill>
              <a:srgbClr val="78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89262"/>
                </a:solidFill>
                <a:latin typeface="Microsoft YaHei"/>
              </a:rPr>
              <a:t>创作空间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804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博物馆静、茶礼暖、节庆仪式、山水档案均可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motif 在服务于主题时可出现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控件角色保持可识别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73152" cy="1170432"/>
          </a:xfrm>
          <a:prstGeom prst="rect">
            <a:avLst/>
          </a:prstGeom>
          <a:solidFill>
            <a:srgbClr val="75878A"/>
          </a:solidFill>
          <a:ln w="6985">
            <a:solidFill>
              <a:srgbClr val="75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5878A"/>
                </a:solidFill>
                <a:latin typeface="Microsoft YaHei"/>
              </a:rPr>
              <a:t>排版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正文现代黑体；宋体用于标题或引语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12 列网格；装饰不扛主信息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017520"/>
            <a:ext cx="73152" cy="1170432"/>
          </a:xfrm>
          <a:prstGeom prst="rect">
            <a:avLst/>
          </a:prstGeom>
          <a:solidFill>
            <a:srgbClr val="9D2933"/>
          </a:solidFill>
          <a:ln w="6985">
            <a:solidFill>
              <a:srgbClr val="9D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2804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9D2933"/>
                </a:solidFill>
                <a:latin typeface="Microsoft YaHei"/>
              </a:rPr>
              <a:t>交付自检（摘要）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是否从完整色卡开始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主卡 + 至多一张辅助卡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是否克制而当代，而非符号堆叠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本示例工作色卡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Indigo Scholarly + Ink Paper。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09344"/>
            <a:ext cx="21488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040" b="1">
                <a:solidFill>
                  <a:srgbClr val="161823"/>
                </a:solidFill>
                <a:latin typeface="Microsoft YaHei"/>
              </a:rPr>
              <a:t>Indigo Scholarly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65376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10" b="0">
                <a:solidFill>
                  <a:srgbClr val="50616D"/>
                </a:solidFill>
                <a:latin typeface="Microsoft YaHei"/>
              </a:rPr>
              <a:t>主结构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27248" y="1536192"/>
            <a:ext cx="530352" cy="402336"/>
          </a:xfrm>
          <a:prstGeom prst="rect">
            <a:avLst/>
          </a:prstGeom>
          <a:solidFill>
            <a:srgbClr val="177CB0"/>
          </a:solidFill>
          <a:ln w="6985">
            <a:solidFill>
              <a:srgbClr val="177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9067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靛青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67328" y="1536192"/>
            <a:ext cx="530352" cy="402336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靛蓝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1536192"/>
            <a:ext cx="530352" cy="402336"/>
          </a:xfrm>
          <a:prstGeom prst="rect">
            <a:avLst/>
          </a:prstGeom>
          <a:solidFill>
            <a:srgbClr val="4B5CC4"/>
          </a:solidFill>
          <a:ln w="6985">
            <a:solidFill>
              <a:srgbClr val="4B5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宝蓝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7488" y="1536192"/>
            <a:ext cx="530352" cy="402336"/>
          </a:xfrm>
          <a:prstGeom prst="rect">
            <a:avLst/>
          </a:prstGeom>
          <a:solidFill>
            <a:srgbClr val="D6ECF0"/>
          </a:solidFill>
          <a:ln w="6985">
            <a:solidFill>
              <a:srgbClr val="D6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975104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月白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2359152"/>
            <a:ext cx="21488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040" b="1">
                <a:solidFill>
                  <a:srgbClr val="161823"/>
                </a:solidFill>
                <a:latin typeface="Microsoft YaHei"/>
              </a:rPr>
              <a:t>Ink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615184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10" b="0">
                <a:solidFill>
                  <a:srgbClr val="50616D"/>
                </a:solidFill>
                <a:latin typeface="Microsoft YaHei"/>
              </a:rPr>
              <a:t>正文与对比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7248" y="2286000"/>
            <a:ext cx="530352" cy="402336"/>
          </a:xfrm>
          <a:prstGeom prst="rect">
            <a:avLst/>
          </a:prstGeom>
          <a:solidFill>
            <a:srgbClr val="161823"/>
          </a:solidFill>
          <a:ln w="6985">
            <a:solidFill>
              <a:srgbClr val="1618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90672" y="2724912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漆黑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67328" y="2286000"/>
            <a:ext cx="530352" cy="402336"/>
          </a:xfrm>
          <a:prstGeom prst="rect">
            <a:avLst/>
          </a:prstGeom>
          <a:solidFill>
            <a:srgbClr val="50616D"/>
          </a:solidFill>
          <a:ln w="6985">
            <a:solidFill>
              <a:srgbClr val="506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0752" y="2724912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墨色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8" y="2286000"/>
            <a:ext cx="530352" cy="402336"/>
          </a:xfrm>
          <a:prstGeom prst="rect">
            <a:avLst/>
          </a:prstGeom>
          <a:solidFill>
            <a:srgbClr val="FFFFFF"/>
          </a:solidFill>
          <a:ln w="698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2" y="2724912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精白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7488" y="2286000"/>
            <a:ext cx="530352" cy="402336"/>
          </a:xfrm>
          <a:prstGeom prst="rect">
            <a:avLst/>
          </a:prstGeom>
          <a:solidFill>
            <a:srgbClr val="FFFBF0"/>
          </a:solidFill>
          <a:ln w="6985">
            <a:solidFill>
              <a:srgbClr val="FFFB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10912" y="2724912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象牙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108960"/>
            <a:ext cx="21488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1040" b="1">
                <a:solidFill>
                  <a:srgbClr val="161823"/>
                </a:solidFill>
                <a:latin typeface="Microsoft YaHei"/>
              </a:rPr>
              <a:t>Bamboo Jade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364991"/>
            <a:ext cx="214884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10" b="0">
                <a:solidFill>
                  <a:srgbClr val="50616D"/>
                </a:solidFill>
                <a:latin typeface="Microsoft YaHei"/>
              </a:rPr>
              <a:t>辅助对比（说明）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035808"/>
            <a:ext cx="530352" cy="402336"/>
          </a:xfrm>
          <a:prstGeom prst="rect">
            <a:avLst/>
          </a:prstGeom>
          <a:solidFill>
            <a:srgbClr val="789262"/>
          </a:solidFill>
          <a:ln w="6985">
            <a:solidFill>
              <a:srgbClr val="78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3474720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竹青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67328" y="3035808"/>
            <a:ext cx="530352" cy="402336"/>
          </a:xfrm>
          <a:prstGeom prst="rect">
            <a:avLst/>
          </a:prstGeom>
          <a:solidFill>
            <a:srgbClr val="2EDFA3"/>
          </a:solidFill>
          <a:ln w="6985">
            <a:solidFill>
              <a:srgbClr val="2ED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30752" y="3474720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玉色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07408" y="3035808"/>
            <a:ext cx="530352" cy="402336"/>
          </a:xfrm>
          <a:prstGeom prst="rect">
            <a:avLst/>
          </a:prstGeom>
          <a:solidFill>
            <a:srgbClr val="E0F0E9"/>
          </a:solidFill>
          <a:ln w="6985">
            <a:solidFill>
              <a:srgbClr val="E0F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70832" y="3474720"/>
            <a:ext cx="603504" cy="1554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570" b="0">
                <a:solidFill>
                  <a:srgbClr val="50616D"/>
                </a:solidFill>
                <a:latin typeface="Microsoft YaHei"/>
              </a:rPr>
              <a:t>素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22 / 28</a:t>
            </a:r>
          </a:p>
        </p:txBody>
      </p:sp>
      <p:pic>
        <p:nvPicPr>
          <p:cNvPr id="41" name="Picture 40" descr="e31379a9f04df3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4892040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中国传统色 — 请求示例（正向）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描述场景、色卡方向与 previewMode。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444752"/>
            <a:ext cx="10561320" cy="111556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444752"/>
            <a:ext cx="109728" cy="111556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1572768"/>
            <a:ext cx="20116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065279"/>
                </a:solidFill>
                <a:latin typeface="Microsoft YaHei"/>
              </a:rPr>
              <a:t>文博 PPT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563624"/>
            <a:ext cx="8183879" cy="8046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790" b="0">
                <a:solidFill>
                  <a:srgbClr val="161823"/>
                </a:solidFill>
                <a:latin typeface="Microsoft YaHei"/>
              </a:rPr>
              <a:t>请使用 chinese_traditional_color_style 做文博主题 PPT：靛青或苍山色系、留白、现代可读；previewMode 为 required 时先给两版色卡预览。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862072"/>
            <a:ext cx="10561320" cy="1115568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2862072"/>
            <a:ext cx="109728" cy="1115568"/>
          </a:xfrm>
          <a:prstGeom prst="rect">
            <a:avLst/>
          </a:prstGeom>
          <a:solidFill>
            <a:srgbClr val="FFA631"/>
          </a:solidFill>
          <a:ln w="6985">
            <a:solidFill>
              <a:srgbClr val="FFA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990088"/>
            <a:ext cx="20116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19" b="1">
                <a:solidFill>
                  <a:srgbClr val="FFA631"/>
                </a:solidFill>
                <a:latin typeface="Microsoft YaHei"/>
              </a:rPr>
              <a:t>茶品牌页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980944"/>
            <a:ext cx="8183879" cy="8046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normAutofit/>
          </a:bodyPr>
          <a:lstStyle/>
          <a:p>
            <a:pPr algn="l">
              <a:lnSpc>
                <a:spcPct val="100000"/>
              </a:lnSpc>
            </a:pPr>
            <a:r>
              <a:rPr sz="790" b="0">
                <a:solidFill>
                  <a:srgbClr val="161823"/>
                </a:solidFill>
                <a:latin typeface="Microsoft YaHei"/>
              </a:rPr>
              <a:t>请使用 chinese_traditional_color_style，主卡 Apricot Gold 或 Bamboo Jade；输出 token、字体层级与商品卡片规则。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600200" cy="7498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065279"/>
                </a:solidFill>
                <a:latin typeface="Consola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04288"/>
            <a:ext cx="8138160" cy="6217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61823"/>
                </a:solidFill>
                <a:latin typeface="SimSun"/>
              </a:rPr>
              <a:t>Modifier 与质量门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3154680"/>
            <a:ext cx="6583680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20" b="0">
                <a:solidFill>
                  <a:srgbClr val="50616D"/>
                </a:solidFill>
                <a:latin typeface="Microsoft YaHei"/>
              </a:rPr>
              <a:t>微调主风格；交付前跑脚本与 Self-Check。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Modifier 原则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见 references/style_modifier_contract.md（含 SEU 枫叶示例）。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91056"/>
            <a:ext cx="73152" cy="1170432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65279"/>
                </a:solidFill>
                <a:latin typeface="Microsoft YaHei"/>
              </a:rPr>
              <a:t>可调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palette / motif / texture / layout / mood / asset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priority hard vs soft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91056"/>
            <a:ext cx="73152" cy="1170432"/>
          </a:xfrm>
          <a:prstGeom prst="rect">
            <a:avLst/>
          </a:prstGeom>
          <a:solidFill>
            <a:srgbClr val="789262"/>
          </a:solidFill>
          <a:ln w="6985">
            <a:solidFill>
              <a:srgbClr val="78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89262"/>
                </a:solidFill>
                <a:latin typeface="Microsoft YaHei"/>
              </a:rPr>
              <a:t>保留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804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主风格色卡纪律与资产边界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identity 角色不被 modifier 替换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73152" cy="1170432"/>
          </a:xfrm>
          <a:prstGeom prst="rect">
            <a:avLst/>
          </a:prstGeom>
          <a:solidFill>
            <a:srgbClr val="75878A"/>
          </a:solidFill>
          <a:ln w="6985">
            <a:solidFill>
              <a:srgbClr val="75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5878A"/>
                </a:solidFill>
                <a:latin typeface="Microsoft YaHei"/>
              </a:rPr>
              <a:t>好组合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SEU + 少量深红 accent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RMB + 10 元蓝分析 dashboard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传统色 + 竹青教育场景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017520"/>
            <a:ext cx="73152" cy="1170432"/>
          </a:xfrm>
          <a:prstGeom prst="rect">
            <a:avLst/>
          </a:prstGeom>
          <a:solidFill>
            <a:srgbClr val="9D2933"/>
          </a:solidFill>
          <a:ln w="6985">
            <a:solidFill>
              <a:srgbClr val="9D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2804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9D2933"/>
                </a:solidFill>
                <a:latin typeface="Microsoft YaHei"/>
              </a:rPr>
              <a:t>需澄清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modifier 试图整体替换主风格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与 Self-Check 冲突的纹理或素材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授权不明的下载素材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25 / 28</a:t>
            </a:r>
          </a:p>
        </p:txBody>
      </p:sp>
      <p:pic>
        <p:nvPicPr>
          <p:cNvPr id="29" name="Picture 28" descr="5696ad8008234b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76688" y="1261872"/>
            <a:ext cx="1481328" cy="14813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交付核对（摘要）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完整 Quality Gate 见 SKILL.md。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1481328"/>
            <a:ext cx="10835640" cy="789432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1581912"/>
            <a:ext cx="2450591" cy="69799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FFFFFF"/>
                </a:solidFill>
                <a:latin typeface="Microsoft YaHei"/>
              </a:rPr>
              <a:t>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1" y="1581912"/>
            <a:ext cx="8165592" cy="697992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ctr">
              <a:lnSpc>
                <a:spcPct val="108000"/>
              </a:lnSpc>
            </a:pPr>
            <a:r>
              <a:rPr sz="819" b="1">
                <a:solidFill>
                  <a:srgbClr val="FFFFFF"/>
                </a:solidFill>
                <a:latin typeface="Microsoft YaHei"/>
              </a:rPr>
              <a:t>通过时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8" y="2270760"/>
            <a:ext cx="10835640" cy="789432"/>
          </a:xfrm>
          <a:prstGeom prst="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5" y="2325624"/>
            <a:ext cx="2432303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风格解析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5" y="2325624"/>
            <a:ext cx="8147304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主风格唯一，reason 可说明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060192"/>
            <a:ext cx="10835640" cy="789432"/>
          </a:xfrm>
          <a:prstGeom prst="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" y="3115056"/>
            <a:ext cx="2432303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合同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4135" y="3115056"/>
            <a:ext cx="8147304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validate_styles.py 通过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849624"/>
            <a:ext cx="10835640" cy="789432"/>
          </a:xfrm>
          <a:prstGeom prst="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5" y="3904487"/>
            <a:ext cx="2432303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5" y="3904487"/>
            <a:ext cx="8147304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多页有锚点与 archetype 变化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4639056"/>
            <a:ext cx="10835640" cy="789432"/>
          </a:xfrm>
          <a:prstGeom prst="rect">
            <a:avLst/>
          </a:prstGeom>
          <a:solidFill>
            <a:srgbClr val="E9F1F6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" y="4693920"/>
            <a:ext cx="2432303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资产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74135" y="4693920"/>
            <a:ext cx="8147304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仅用 active asset root；比例保持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9808" y="5428488"/>
            <a:ext cx="10835640" cy="789432"/>
          </a:xfrm>
          <a:prstGeom prst="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5" y="5483351"/>
            <a:ext cx="2432303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Self-Check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4135" y="5483351"/>
            <a:ext cx="8147304" cy="7162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normAutofit/>
          </a:bodyPr>
          <a:lstStyle/>
          <a:p>
            <a:pPr algn="l">
              <a:lnSpc>
                <a:spcPct val="108000"/>
              </a:lnSpc>
            </a:pPr>
            <a:r>
              <a:rPr sz="750" b="0">
                <a:solidFill>
                  <a:srgbClr val="161823"/>
                </a:solidFill>
                <a:latin typeface="Microsoft YaHei"/>
              </a:rPr>
              <a:t>具体风格 CheckResult 无 material 问题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ice-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56032" y="329184"/>
            <a:ext cx="73152" cy="6172200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56616" y="329184"/>
            <a:ext cx="22860" cy="6172200"/>
          </a:xfrm>
          <a:prstGeom prst="rect">
            <a:avLst/>
          </a:prstGeom>
          <a:solidFill>
            <a:srgbClr val="EACD76"/>
          </a:solidFill>
          <a:ln w="6985">
            <a:solidFill>
              <a:srgbClr val="EAC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93192"/>
            <a:ext cx="9784080" cy="4297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100" b="1">
                <a:solidFill>
                  <a:srgbClr val="161823"/>
                </a:solidFill>
                <a:latin typeface="SimSun"/>
              </a:rPr>
              <a:t>扩展新风格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932688"/>
            <a:ext cx="2514600" cy="0"/>
          </a:xfrm>
          <a:prstGeom prst="line">
            <a:avLst/>
          </a:prstGeom>
          <a:ln w="20320">
            <a:solidFill>
              <a:srgbClr val="0652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310128" y="932688"/>
            <a:ext cx="557784" cy="0"/>
          </a:xfrm>
          <a:prstGeom prst="line">
            <a:avLst/>
          </a:prstGeom>
          <a:ln w="20320">
            <a:solidFill>
              <a:srgbClr val="EACD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987552"/>
            <a:ext cx="89154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950" b="0">
                <a:solidFill>
                  <a:srgbClr val="50616D"/>
                </a:solidFill>
                <a:latin typeface="Microsoft YaHei"/>
              </a:rPr>
              <a:t>Extension 章节步骤。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1591056"/>
            <a:ext cx="73152" cy="1170432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065279"/>
                </a:solidFill>
                <a:latin typeface="Microsoft YaHei"/>
              </a:rPr>
              <a:t>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从 style_template.md 起草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Contract Conformance 置顶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1636" y="1591056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1636" y="1591056"/>
            <a:ext cx="73152" cy="1170432"/>
          </a:xfrm>
          <a:prstGeom prst="rect">
            <a:avLst/>
          </a:prstGeom>
          <a:solidFill>
            <a:srgbClr val="789262"/>
          </a:solidFill>
          <a:ln w="6985">
            <a:solidFill>
              <a:srgbClr val="7892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2804" y="1700784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89262"/>
                </a:solidFill>
                <a:latin typeface="Microsoft YaHei"/>
              </a:rPr>
              <a:t>Registry +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2804" y="2011680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注册 style_registry.md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assets/&lt;name&gt;/ + ASSET_MANIFEST.md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73152" cy="1170432"/>
          </a:xfrm>
          <a:prstGeom prst="rect">
            <a:avLst/>
          </a:prstGeom>
          <a:solidFill>
            <a:srgbClr val="75878A"/>
          </a:solidFill>
          <a:ln w="6985">
            <a:solidFill>
              <a:srgbClr val="7587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75878A"/>
                </a:solidFill>
                <a:latin typeface="Microsoft YaHei"/>
              </a:rPr>
              <a:t>共享 mechanics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palette / rhythm 进 design_mechanics.md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不 fork 基线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3017520"/>
            <a:ext cx="5152644" cy="1170432"/>
          </a:xfrm>
          <a:prstGeom prst="roundRect">
            <a:avLst/>
          </a:prstGeom>
          <a:solidFill>
            <a:srgbClr val="FFFFFF"/>
          </a:solidFill>
          <a:ln w="6985">
            <a:solidFill>
              <a:srgbClr val="BACA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017520"/>
            <a:ext cx="73152" cy="1170432"/>
          </a:xfrm>
          <a:prstGeom prst="rect">
            <a:avLst/>
          </a:prstGeom>
          <a:solidFill>
            <a:srgbClr val="9D2933"/>
          </a:solidFill>
          <a:ln w="6985">
            <a:solidFill>
              <a:srgbClr val="9D2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2804" y="3127248"/>
            <a:ext cx="482346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1">
                <a:solidFill>
                  <a:srgbClr val="9D2933"/>
                </a:solidFill>
                <a:latin typeface="Microsoft YaHei"/>
              </a:rPr>
              <a:t>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2804" y="3438144"/>
            <a:ext cx="4832604" cy="67665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validate_styles.py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meta-skill validate_skills.py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30">
                <a:solidFill>
                  <a:srgbClr val="50616D"/>
                </a:solidFill>
                <a:latin typeface="Microsoft YaHei"/>
              </a:rPr>
              <a:t>• 人工视觉抽查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aa00ccae1f4d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1292840" cy="6172200"/>
          </a:xfrm>
          <a:prstGeom prst="rect">
            <a:avLst/>
          </a:prstGeom>
        </p:spPr>
      </p:pic>
      <p:pic>
        <p:nvPicPr>
          <p:cNvPr id="3" name="Picture 2" descr="7681df7ec35cece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5166360"/>
            <a:ext cx="493776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ice-paper-over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5279"/>
          </a:solidFill>
          <a:ln w="6985">
            <a:solidFill>
              <a:srgbClr val="0652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950976"/>
            <a:ext cx="1600200" cy="7498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>
                <a:solidFill>
                  <a:srgbClr val="065279"/>
                </a:solidFill>
                <a:latin typeface="Consolas"/>
              </a:rPr>
              <a:t>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04288"/>
            <a:ext cx="8138160" cy="6217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>
                <a:solidFill>
                  <a:srgbClr val="161823"/>
                </a:solidFill>
                <a:latin typeface="SimSun"/>
              </a:rPr>
              <a:t>先选对风格，再锁住节奏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154680"/>
            <a:ext cx="6583680" cy="6583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1420" b="0">
                <a:solidFill>
                  <a:srgbClr val="50616D"/>
                </a:solidFill>
                <a:latin typeface="Microsoft YaHei"/>
              </a:rPr>
              <a:t>示例 deck 仅演示流程；真实任务以 references 与 Self-Check 为准。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8368" y="6428232"/>
            <a:ext cx="10890504" cy="0"/>
          </a:xfrm>
          <a:prstGeom prst="line">
            <a:avLst/>
          </a:prstGeom>
          <a:ln w="5080">
            <a:solidFill>
              <a:srgbClr val="BACA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3232" y="6483096"/>
            <a:ext cx="56692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example: skill_intro_deck / chinese_traditional_color_style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6483096"/>
            <a:ext cx="822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>
              <a:lnSpc>
                <a:spcPct val="108000"/>
              </a:lnSpc>
            </a:pPr>
            <a:r>
              <a:rPr sz="670" b="0">
                <a:solidFill>
                  <a:srgbClr val="50616D"/>
                </a:solidFill>
                <a:latin typeface="Microsoft YaHe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